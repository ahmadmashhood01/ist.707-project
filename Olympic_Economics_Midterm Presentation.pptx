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270" r:id="rId15"/>
    <p:sldId id="271" r:id="rId16"/>
    <p:sldId id="272" r:id="rId17"/>
    <p:sldId id="27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2"/>
  </p:normalViewPr>
  <p:slideViewPr>
    <p:cSldViewPr snapToGrid="0" snapToObjects="1">
      <p:cViewPr varScale="1">
        <p:scale>
          <a:sx n="104" d="100"/>
          <a:sy n="104" d="100"/>
        </p:scale>
        <p:origin x="800"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we're moving into model evaluation, where we test how accurately our models can predict Olympic medals.</a:t>
            </a:r>
          </a:p>
          <a:p/>
          <a:p>
            <a:r>
              <a:t>First, we created a null baseline. This is basically the simplest possible model. Instead of considering GDP, population, or any other economic factors, it predicts the same number of medals for every country, based on the average in our training data.</a:t>
            </a:r>
          </a:p>
          <a:p/>
          <a:p>
            <a:r>
              <a:t>We use this as a starting point to see whether machine learning actually improves our predictions.</a:t>
            </a:r>
          </a:p>
          <a:p/>
          <a:p>
            <a:r>
              <a:t>To measure performance, we use two metrics: MAE, which tells us how many medals our predictions are off by on average, and R-squared, which tells us how well the model explains differences in medal counts.</a:t>
            </a:r>
          </a:p>
          <a:p/>
          <a:p>
            <a:r>
              <a:t>Our baseline had an MAE of 6.781 medals, while the grouped baseline had an MAE of 8.538.</a:t>
            </a:r>
          </a:p>
          <a:p/>
          <a:p>
            <a:r>
              <a:t>So our goal is to build models that can reduce these errors.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can see what happens when we actually introduce economic factors into our models.</a:t>
            </a:r>
          </a:p>
          <a:p/>
          <a:p>
            <a:r>
              <a:t>The null baseline had an average error of 6.781 medals.</a:t>
            </a:r>
          </a:p>
          <a:p/>
          <a:p>
            <a:r>
              <a:t>But when we used Ridge regression with all economic factors, that error dropped to just 3.708 medals.</a:t>
            </a:r>
          </a:p>
          <a:p/>
          <a:p>
            <a:r>
              <a:t>That's a 45.3% reduction in prediction error, which is a pretty significant improvement.</a:t>
            </a:r>
          </a:p>
          <a:p/>
          <a:p>
            <a:r>
              <a:t>We also tested countries in separate economic and population groups. Their baseline error was 8.538, which decreased to 5.873 with Ridge regression.</a:t>
            </a:r>
          </a:p>
          <a:p/>
          <a:p>
            <a:r>
              <a:t>So the main takeaway here is that economic indicators clearly add predictive value compared to simply guessing the average medal count.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compared several machine learning models to see which performed best.</a:t>
            </a:r>
          </a:p>
          <a:p/>
          <a:p>
            <a:r>
              <a:t>We tested Ridge regression, Random Forest, Decision Tree, and XGBoost.</a:t>
            </a:r>
          </a:p>
          <a:p/>
          <a:p>
            <a:r>
              <a:t>Looking at the results, Ridge regression using all economic factors performed the best.</a:t>
            </a:r>
          </a:p>
          <a:p/>
          <a:p>
            <a:r>
              <a:t>It achieved an R-squared of 0.673, meaning it explained about 67% of the variation in medal counts in our test data.</a:t>
            </a:r>
          </a:p>
          <a:p/>
          <a:p>
            <a:r>
              <a:t>It also had the lowest MAE at 3.708 medals.</a:t>
            </a:r>
          </a:p>
          <a:p/>
          <a:p>
            <a:r>
              <a:t>Random Forest came next, with an R-squared of 0.481.</a:t>
            </a:r>
          </a:p>
          <a:p/>
          <a:p>
            <a:r>
              <a:t>Interestingly, even though Random Forest and XGBoost are more complex models, they didn't outperform Ridge regression.</a:t>
            </a:r>
          </a:p>
          <a:p/>
          <a:p>
            <a:r>
              <a:t>Our grouped Ridge model also performed worse, suggesting that GDP and population contain important predictive information.</a:t>
            </a:r>
          </a:p>
          <a:p/>
          <a:p>
            <a:r>
              <a:t>So in this case, the simpler Ridge regression model actually gave us the strongest results.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how our model performs when predicting whether a country wins a medal.</a:t>
            </a:r>
          </a:p>
          <a:p/>
          <a:p>
            <a:r>
              <a:t>The chart here is a confusion matrix from logistic regression.</a:t>
            </a:r>
          </a:p>
          <a:p/>
          <a:p>
            <a:r>
              <a:t>On the top left, we have 29 countries that correctly predicted to win no medals.</a:t>
            </a:r>
          </a:p>
          <a:p/>
          <a:p>
            <a:r>
              <a:t>On the bottom right, we have 17 countries correctly predicted to win at least one medal.</a:t>
            </a:r>
          </a:p>
          <a:p/>
          <a:p>
            <a:r>
              <a:t>There were also two countries incorrectly predicted to win medals, and three countries incorrectly predicted to win none.</a:t>
            </a:r>
          </a:p>
          <a:p/>
          <a:p>
            <a:r>
              <a:t>So overall, the model correctly classified 46 out of 51 countries.</a:t>
            </a:r>
          </a:p>
          <a:p/>
          <a:p>
            <a:r>
              <a:t>This suggests that economic factors can help us distinguish between countries that win medals and those that don't.</a:t>
            </a:r>
          </a:p>
          <a:p/>
          <a:p>
            <a:r>
              <a:t>However, predicting whether a country wins any medal is different from accurately predicting its total number of medals.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did we actually learn from these experiments?</a:t>
            </a:r>
          </a:p>
          <a:p/>
          <a:p>
            <a:r>
              <a:t>Our biggest finding is that economic conditions are useful for predicting Olympic success.</a:t>
            </a:r>
          </a:p>
          <a:p/>
          <a:p>
            <a:r>
              <a:t>The Ridge regression model using all economic indicators achieved the best performance, with an R-squared of 0.673 and an average error of about 3.7 medals.</a:t>
            </a:r>
          </a:p>
          <a:p/>
          <a:p>
            <a:r>
              <a:t>If you look at the graph, the dotted line represents perfect predictions. The closer a point is to that line, the more accurate our prediction is.</a:t>
            </a:r>
          </a:p>
          <a:p/>
          <a:p>
            <a:r>
              <a:t>We can see that several predictions are close, but there are also some significant errors.</a:t>
            </a:r>
          </a:p>
          <a:p/>
          <a:p>
            <a:r>
              <a:t>Another important finding is that when we removed GDP and population from the grouped model, performance dropped substantially.</a:t>
            </a:r>
          </a:p>
          <a:p/>
          <a:p>
            <a:r>
              <a:t>This tells us that GDP and population are especially important predictors, and grouping countries doesn't fully replace that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 course, our study also had some limitations.</a:t>
            </a:r>
          </a:p>
          <a:p/>
          <a:p>
            <a:r>
              <a:t>One major challenge was missing data. Not every country reports the same economic indicators, especially across different years.</a:t>
            </a:r>
          </a:p>
          <a:p/>
          <a:p>
            <a:r>
              <a:t>Another challenge is that Olympic medals are not evenly distributed. A small number of countries win a large percentage of the medals, making predictions more difficult.</a:t>
            </a:r>
          </a:p>
          <a:p/>
          <a:p>
            <a:r>
              <a:t>We also found that GDP and population are such strong predictors that they can overshadow other economic factors.</a:t>
            </a:r>
          </a:p>
          <a:p/>
          <a:p>
            <a:r>
              <a:t>For future work, we'd like to test our models across multiple Olympic years, improve our model tuning, and look more closely at medals per athlete rather than just total medals.</a:t>
            </a:r>
          </a:p>
          <a:p/>
          <a:p>
            <a:r>
              <a:t>We also want to examine whether our models systematically perform better for certain income or population groups.</a:t>
            </a:r>
          </a:p>
          <a:p/>
          <a:p>
            <a:r>
              <a:t>And importantly, correlation doesn't mean causation. Just because wealthier countries tend to win more medals doesn't necessarily mean increasing GDP directly causes more medals.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our research shows that economic conditions can help explain and predict Olympic success.</a:t>
            </a:r>
          </a:p>
          <a:p/>
          <a:p>
            <a:r>
              <a:t>By combining Olympic medal data with economic indicators, we were able to significantly improve prediction accuracy compared to a simple baseline.</a:t>
            </a:r>
          </a:p>
          <a:p/>
          <a:p>
            <a:r>
              <a:t>Our best model, Ridge regression, reduced the average prediction error from 6.781 to 3.708 medals.</a:t>
            </a:r>
          </a:p>
          <a:p/>
          <a:p>
            <a:r>
              <a:t>We also confirmed that GDP and population are important predictors, but they don't tell the entire story.</a:t>
            </a:r>
          </a:p>
          <a:p/>
          <a:p>
            <a:r>
              <a:t>Countries with similar economic conditions can still perform very differently, which suggests that other factors, including sports infrastructure, training, and national investment priorities, may also matter.</a:t>
            </a:r>
          </a:p>
          <a:p/>
          <a:p>
            <a:r>
              <a:t>So the main takeaway is that economic resources help explain Olympic performance, but they don't determine success on their own.</a:t>
            </a:r>
          </a:p>
          <a:p/>
          <a:p>
            <a:r>
              <a:t>Thank you, and we're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_original_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What does a null baseline predict?</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1737360"/>
            <a:ext cx="4937760" cy="3200400"/>
          </a:xfrm>
          <a:prstGeom prst="roundRect">
            <a:avLst/>
          </a:prstGeom>
          <a:solidFill>
            <a:srgbClr val="E7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901952"/>
            <a:ext cx="4517136" cy="384048"/>
          </a:xfrm>
          <a:prstGeom prst="rect">
            <a:avLst/>
          </a:prstGeom>
          <a:noFill/>
        </p:spPr>
        <p:txBody>
          <a:bodyPr wrap="square">
            <a:spAutoFit/>
          </a:bodyPr>
          <a:lstStyle/>
          <a:p>
            <a:pPr>
              <a:spcAft>
                <a:spcPts val="800"/>
              </a:spcAft>
              <a:defRPr sz="1900" b="1">
                <a:solidFill>
                  <a:srgbClr val="12203A"/>
                </a:solidFill>
              </a:defRPr>
            </a:pPr>
            <a:r>
              <a:t>Null model</a:t>
            </a:r>
          </a:p>
        </p:txBody>
      </p:sp>
      <p:sp>
        <p:nvSpPr>
          <p:cNvPr id="7" name="TextBox 6"/>
          <p:cNvSpPr txBox="1"/>
          <p:nvPr/>
        </p:nvSpPr>
        <p:spPr>
          <a:xfrm>
            <a:off x="850392" y="2395728"/>
            <a:ext cx="4517136" cy="2323713"/>
          </a:xfrm>
          <a:prstGeom prst="rect">
            <a:avLst/>
          </a:prstGeom>
          <a:noFill/>
        </p:spPr>
        <p:txBody>
          <a:bodyPr wrap="square" lIns="38100" tIns="25400" rIns="38100" bIns="25400">
            <a:spAutoFit/>
          </a:bodyPr>
          <a:lstStyle/>
          <a:p>
            <a:pPr>
              <a:spcAft>
                <a:spcPts val="700"/>
              </a:spcAft>
            </a:pPr>
            <a:r>
              <a:rPr sz="1700" dirty="0">
                <a:latin typeface="Aptos"/>
              </a:rPr>
              <a:t>The null model predicts the mean</a:t>
            </a:r>
            <a:r>
              <a:rPr lang="en-US" sz="1700" dirty="0">
                <a:latin typeface="Aptos"/>
              </a:rPr>
              <a:t> of the training sets</a:t>
            </a:r>
            <a:r>
              <a:rPr sz="1700" dirty="0">
                <a:latin typeface="Aptos"/>
              </a:rPr>
              <a:t> medal count for every country, regardless of its population, wealth</a:t>
            </a:r>
            <a:r>
              <a:rPr lang="en-US" sz="1700" dirty="0">
                <a:latin typeface="Aptos"/>
              </a:rPr>
              <a:t> (GDP)</a:t>
            </a:r>
            <a:r>
              <a:rPr sz="1700" dirty="0">
                <a:latin typeface="Aptos"/>
              </a:rPr>
              <a:t>, athlete participation</a:t>
            </a:r>
            <a:r>
              <a:rPr lang="en-US" sz="1700" dirty="0">
                <a:latin typeface="Aptos"/>
              </a:rPr>
              <a:t>, health expenditure, etc.</a:t>
            </a:r>
            <a:endParaRPr sz="1700" dirty="0">
              <a:latin typeface="Aptos"/>
            </a:endParaRPr>
          </a:p>
          <a:p>
            <a:pPr>
              <a:spcAft>
                <a:spcPts val="700"/>
              </a:spcAft>
            </a:pPr>
            <a:endParaRPr sz="1700" dirty="0">
              <a:latin typeface="Aptos"/>
            </a:endParaRPr>
          </a:p>
          <a:p>
            <a:pPr>
              <a:spcAft>
                <a:spcPts val="700"/>
              </a:spcAft>
            </a:pPr>
            <a:r>
              <a:rPr lang="en-US" sz="1700" dirty="0">
                <a:latin typeface="Aptos"/>
              </a:rPr>
              <a:t>The null model provide </a:t>
            </a:r>
            <a:r>
              <a:rPr sz="1700" dirty="0">
                <a:latin typeface="Aptos"/>
              </a:rPr>
              <a:t>a reference for judging whether economic predictors add value</a:t>
            </a:r>
            <a:r>
              <a:rPr lang="en-US" sz="1700" dirty="0">
                <a:latin typeface="Aptos"/>
              </a:rPr>
              <a:t> to the test model.</a:t>
            </a:r>
            <a:endParaRPr sz="1700" dirty="0">
              <a:latin typeface="Aptos"/>
            </a:endParaRPr>
          </a:p>
        </p:txBody>
      </p:sp>
      <p:sp>
        <p:nvSpPr>
          <p:cNvPr id="8" name="Rounded Rectangle 7"/>
          <p:cNvSpPr/>
          <p:nvPr/>
        </p:nvSpPr>
        <p:spPr>
          <a:xfrm>
            <a:off x="5760720" y="1737360"/>
            <a:ext cx="5669280" cy="3200400"/>
          </a:xfrm>
          <a:prstGeom prst="roundRect">
            <a:avLst/>
          </a:prstGeom>
          <a:solidFill>
            <a:srgbClr val="E7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71032" y="1901952"/>
            <a:ext cx="5248656" cy="384048"/>
          </a:xfrm>
          <a:prstGeom prst="rect">
            <a:avLst/>
          </a:prstGeom>
          <a:noFill/>
        </p:spPr>
        <p:txBody>
          <a:bodyPr wrap="square">
            <a:spAutoFit/>
          </a:bodyPr>
          <a:lstStyle/>
          <a:p>
            <a:pPr>
              <a:spcAft>
                <a:spcPts val="800"/>
              </a:spcAft>
              <a:defRPr sz="1900" b="1">
                <a:solidFill>
                  <a:srgbClr val="12203A"/>
                </a:solidFill>
              </a:defRPr>
            </a:pPr>
            <a:r>
              <a:t>Why it matters</a:t>
            </a:r>
          </a:p>
        </p:txBody>
      </p:sp>
      <p:sp>
        <p:nvSpPr>
          <p:cNvPr id="10" name="TextBox 9"/>
          <p:cNvSpPr txBox="1"/>
          <p:nvPr/>
        </p:nvSpPr>
        <p:spPr>
          <a:xfrm>
            <a:off x="5971032" y="2395728"/>
            <a:ext cx="5248656" cy="1800493"/>
          </a:xfrm>
          <a:prstGeom prst="rect">
            <a:avLst/>
          </a:prstGeom>
          <a:noFill/>
        </p:spPr>
        <p:txBody>
          <a:bodyPr wrap="square" lIns="38100" tIns="25400" rIns="38100" bIns="25400">
            <a:spAutoFit/>
          </a:bodyPr>
          <a:lstStyle/>
          <a:p>
            <a:pPr>
              <a:spcAft>
                <a:spcPts val="700"/>
              </a:spcAft>
            </a:pPr>
            <a:r>
              <a:rPr sz="1700" dirty="0">
                <a:latin typeface="Aptos"/>
              </a:rPr>
              <a:t>We evaluate all models on countries</a:t>
            </a:r>
            <a:r>
              <a:rPr lang="en-US" sz="1700" dirty="0">
                <a:latin typeface="Aptos"/>
              </a:rPr>
              <a:t> withing the groups and without the groups</a:t>
            </a:r>
            <a:r>
              <a:rPr sz="1700" dirty="0">
                <a:latin typeface="Aptos"/>
              </a:rPr>
              <a:t> using the same test</a:t>
            </a:r>
            <a:r>
              <a:rPr lang="en-US" sz="1700" dirty="0">
                <a:latin typeface="Aptos"/>
              </a:rPr>
              <a:t>-</a:t>
            </a:r>
            <a:r>
              <a:rPr sz="1700" dirty="0">
                <a:latin typeface="Aptos"/>
              </a:rPr>
              <a:t>split.</a:t>
            </a:r>
          </a:p>
          <a:p>
            <a:pPr>
              <a:spcAft>
                <a:spcPts val="700"/>
              </a:spcAft>
            </a:pPr>
            <a:endParaRPr sz="1700" dirty="0">
              <a:latin typeface="Aptos"/>
            </a:endParaRPr>
          </a:p>
          <a:p>
            <a:pPr>
              <a:spcAft>
                <a:spcPts val="700"/>
              </a:spcAft>
            </a:pPr>
            <a:r>
              <a:rPr sz="1700" dirty="0">
                <a:latin typeface="Aptos"/>
              </a:rPr>
              <a:t>MAE measures the average absolute difference between predicted and actual medals; R² measures improvement in explaining variation.</a:t>
            </a:r>
          </a:p>
        </p:txBody>
      </p:sp>
      <p:sp>
        <p:nvSpPr>
          <p:cNvPr id="11" name="TextBox 10"/>
          <p:cNvSpPr txBox="1"/>
          <p:nvPr/>
        </p:nvSpPr>
        <p:spPr>
          <a:xfrm>
            <a:off x="640080" y="5198364"/>
            <a:ext cx="10789920" cy="1451679"/>
          </a:xfrm>
          <a:prstGeom prst="rect">
            <a:avLst/>
          </a:prstGeom>
          <a:noFill/>
        </p:spPr>
        <p:txBody>
          <a:bodyPr wrap="square">
            <a:spAutoFit/>
          </a:bodyPr>
          <a:lstStyle/>
          <a:p>
            <a:pPr>
              <a:spcAft>
                <a:spcPts val="800"/>
              </a:spcAft>
              <a:defRPr sz="2500" b="1">
                <a:solidFill>
                  <a:srgbClr val="2667DA"/>
                </a:solidFill>
              </a:defRPr>
            </a:pPr>
            <a:r>
              <a:rPr dirty="0"/>
              <a:t>Null baseline MAE: 6.781 medals    |    R²: −0.004</a:t>
            </a:r>
            <a:endParaRPr lang="en-US" dirty="0"/>
          </a:p>
          <a:p>
            <a:pPr>
              <a:spcAft>
                <a:spcPts val="800"/>
              </a:spcAft>
              <a:defRPr sz="2500" b="1">
                <a:solidFill>
                  <a:srgbClr val="2667DA"/>
                </a:solidFill>
              </a:defRPr>
            </a:pPr>
            <a:r>
              <a:rPr lang="en-US" dirty="0"/>
              <a:t>Null baseline with Groups MAE:  8.538    |   R²: -0.004</a:t>
            </a:r>
          </a:p>
          <a:p>
            <a:pPr>
              <a:spcAft>
                <a:spcPts val="800"/>
              </a:spcAft>
              <a:defRPr sz="2500" b="1">
                <a:solidFill>
                  <a:srgbClr val="2667DA"/>
                </a:solidFill>
              </a:defRPr>
            </a:pP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538609"/>
          </a:xfrm>
          <a:prstGeom prst="rect">
            <a:avLst/>
          </a:prstGeom>
          <a:noFill/>
        </p:spPr>
        <p:txBody>
          <a:bodyPr wrap="square">
            <a:spAutoFit/>
          </a:bodyPr>
          <a:lstStyle/>
          <a:p>
            <a:pPr>
              <a:spcAft>
                <a:spcPts val="800"/>
              </a:spcAft>
              <a:defRPr sz="2900" b="1">
                <a:solidFill>
                  <a:srgbClr val="12203A"/>
                </a:solidFill>
              </a:defRPr>
            </a:pPr>
            <a:r>
              <a:rPr lang="en-US" dirty="0"/>
              <a:t>Adding </a:t>
            </a:r>
            <a:r>
              <a:rPr dirty="0"/>
              <a:t>Economic </a:t>
            </a:r>
            <a:r>
              <a:rPr lang="en-US" dirty="0"/>
              <a:t>P</a:t>
            </a:r>
            <a:r>
              <a:rPr dirty="0"/>
              <a:t>redictors </a:t>
            </a:r>
            <a:r>
              <a:rPr lang="en-US" dirty="0"/>
              <a:t>Helps Improve on the Null Baseline</a:t>
            </a:r>
            <a:endParaRPr dirty="0"/>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920240"/>
            <a:ext cx="2926080" cy="411480"/>
          </a:xfrm>
          <a:prstGeom prst="rect">
            <a:avLst/>
          </a:prstGeom>
          <a:noFill/>
        </p:spPr>
        <p:txBody>
          <a:bodyPr wrap="square">
            <a:spAutoFit/>
          </a:bodyPr>
          <a:lstStyle/>
          <a:p>
            <a:pPr>
              <a:spcAft>
                <a:spcPts val="800"/>
              </a:spcAft>
              <a:defRPr sz="1900" b="1">
                <a:solidFill>
                  <a:srgbClr val="12203A"/>
                </a:solidFill>
              </a:defRPr>
            </a:pPr>
            <a:r>
              <a:rPr dirty="0"/>
              <a:t>Null baseline</a:t>
            </a:r>
          </a:p>
        </p:txBody>
      </p:sp>
      <p:sp>
        <p:nvSpPr>
          <p:cNvPr id="6" name="Rectangle 5"/>
          <p:cNvSpPr/>
          <p:nvPr/>
        </p:nvSpPr>
        <p:spPr>
          <a:xfrm>
            <a:off x="3657600" y="1920240"/>
            <a:ext cx="5642497" cy="438912"/>
          </a:xfrm>
          <a:prstGeom prst="rect">
            <a:avLst/>
          </a:prstGeom>
          <a:solidFill>
            <a:srgbClr val="83A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482977" y="1920240"/>
            <a:ext cx="1371600" cy="457200"/>
          </a:xfrm>
          <a:prstGeom prst="rect">
            <a:avLst/>
          </a:prstGeom>
          <a:noFill/>
        </p:spPr>
        <p:txBody>
          <a:bodyPr wrap="square">
            <a:spAutoFit/>
          </a:bodyPr>
          <a:lstStyle/>
          <a:p>
            <a:pPr>
              <a:spcAft>
                <a:spcPts val="800"/>
              </a:spcAft>
              <a:defRPr sz="1800" b="1">
                <a:solidFill>
                  <a:srgbClr val="12203A"/>
                </a:solidFill>
              </a:defRPr>
            </a:pPr>
            <a:r>
              <a:t>6.781</a:t>
            </a:r>
          </a:p>
        </p:txBody>
      </p:sp>
      <p:sp>
        <p:nvSpPr>
          <p:cNvPr id="8" name="TextBox 7"/>
          <p:cNvSpPr txBox="1"/>
          <p:nvPr/>
        </p:nvSpPr>
        <p:spPr>
          <a:xfrm>
            <a:off x="731520" y="2971800"/>
            <a:ext cx="2926080" cy="411480"/>
          </a:xfrm>
          <a:prstGeom prst="rect">
            <a:avLst/>
          </a:prstGeom>
          <a:noFill/>
        </p:spPr>
        <p:txBody>
          <a:bodyPr wrap="square">
            <a:spAutoFit/>
          </a:bodyPr>
          <a:lstStyle/>
          <a:p>
            <a:pPr>
              <a:spcAft>
                <a:spcPts val="800"/>
              </a:spcAft>
              <a:defRPr sz="1900" b="1">
                <a:solidFill>
                  <a:srgbClr val="12203A"/>
                </a:solidFill>
              </a:defRPr>
            </a:pPr>
            <a:r>
              <a:rPr dirty="0"/>
              <a:t>Ridge: all factors</a:t>
            </a:r>
          </a:p>
        </p:txBody>
      </p:sp>
      <p:sp>
        <p:nvSpPr>
          <p:cNvPr id="9" name="Rectangle 8"/>
          <p:cNvSpPr/>
          <p:nvPr/>
        </p:nvSpPr>
        <p:spPr>
          <a:xfrm>
            <a:off x="3657600" y="2971800"/>
            <a:ext cx="3085441" cy="438912"/>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25921" y="2971800"/>
            <a:ext cx="1371600" cy="457200"/>
          </a:xfrm>
          <a:prstGeom prst="rect">
            <a:avLst/>
          </a:prstGeom>
          <a:noFill/>
        </p:spPr>
        <p:txBody>
          <a:bodyPr wrap="square">
            <a:spAutoFit/>
          </a:bodyPr>
          <a:lstStyle/>
          <a:p>
            <a:pPr>
              <a:spcAft>
                <a:spcPts val="800"/>
              </a:spcAft>
              <a:defRPr sz="1800" b="1">
                <a:solidFill>
                  <a:srgbClr val="12203A"/>
                </a:solidFill>
              </a:defRPr>
            </a:pPr>
            <a:r>
              <a:t>3.708</a:t>
            </a:r>
          </a:p>
        </p:txBody>
      </p:sp>
      <p:sp>
        <p:nvSpPr>
          <p:cNvPr id="11" name="TextBox 10"/>
          <p:cNvSpPr txBox="1"/>
          <p:nvPr/>
        </p:nvSpPr>
        <p:spPr>
          <a:xfrm>
            <a:off x="731520" y="4791456"/>
            <a:ext cx="2926080" cy="411480"/>
          </a:xfrm>
          <a:prstGeom prst="rect">
            <a:avLst/>
          </a:prstGeom>
          <a:noFill/>
        </p:spPr>
        <p:txBody>
          <a:bodyPr wrap="square">
            <a:spAutoFit/>
          </a:bodyPr>
          <a:lstStyle/>
          <a:p>
            <a:pPr>
              <a:spcAft>
                <a:spcPts val="800"/>
              </a:spcAft>
              <a:defRPr sz="1900" b="1">
                <a:solidFill>
                  <a:srgbClr val="12203A"/>
                </a:solidFill>
              </a:defRPr>
            </a:pPr>
            <a:r>
              <a:rPr dirty="0"/>
              <a:t>Ridge: grouped</a:t>
            </a:r>
          </a:p>
        </p:txBody>
      </p:sp>
      <p:sp>
        <p:nvSpPr>
          <p:cNvPr id="12" name="Rectangle 11"/>
          <p:cNvSpPr/>
          <p:nvPr/>
        </p:nvSpPr>
        <p:spPr>
          <a:xfrm>
            <a:off x="3637287" y="3848011"/>
            <a:ext cx="6531490" cy="438912"/>
          </a:xfrm>
          <a:prstGeom prst="rect">
            <a:avLst/>
          </a:prstGeom>
          <a:solidFill>
            <a:srgbClr val="83A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928497" y="4822573"/>
            <a:ext cx="1371600" cy="457200"/>
          </a:xfrm>
          <a:prstGeom prst="rect">
            <a:avLst/>
          </a:prstGeom>
          <a:noFill/>
        </p:spPr>
        <p:txBody>
          <a:bodyPr wrap="square">
            <a:spAutoFit/>
          </a:bodyPr>
          <a:lstStyle/>
          <a:p>
            <a:pPr>
              <a:spcAft>
                <a:spcPts val="800"/>
              </a:spcAft>
              <a:defRPr sz="1800" b="1">
                <a:solidFill>
                  <a:srgbClr val="12203A"/>
                </a:solidFill>
              </a:defRPr>
            </a:pPr>
            <a:r>
              <a:rPr dirty="0"/>
              <a:t>5.873</a:t>
            </a:r>
          </a:p>
        </p:txBody>
      </p:sp>
      <p:sp>
        <p:nvSpPr>
          <p:cNvPr id="14" name="TextBox 13"/>
          <p:cNvSpPr txBox="1"/>
          <p:nvPr/>
        </p:nvSpPr>
        <p:spPr>
          <a:xfrm>
            <a:off x="731520" y="5532120"/>
            <a:ext cx="10698480" cy="594360"/>
          </a:xfrm>
          <a:prstGeom prst="rect">
            <a:avLst/>
          </a:prstGeom>
          <a:noFill/>
        </p:spPr>
        <p:txBody>
          <a:bodyPr wrap="square" lIns="38100" tIns="25400" rIns="38100" bIns="25400">
            <a:spAutoFit/>
          </a:bodyPr>
          <a:lstStyle/>
          <a:p>
            <a:pPr>
              <a:spcAft>
                <a:spcPts val="700"/>
              </a:spcAft>
            </a:pPr>
            <a:r>
              <a:rPr sz="1700" dirty="0">
                <a:latin typeface="Aptos"/>
              </a:rPr>
              <a:t>Ridge using all economic factors lowers the average prediction error from 6.781 to 3.708 medals—a 45.3% reduction. The grouped model </a:t>
            </a:r>
            <a:r>
              <a:rPr lang="en-US" sz="1700" dirty="0">
                <a:latin typeface="Aptos"/>
              </a:rPr>
              <a:t>also improves from the baseline model.</a:t>
            </a:r>
            <a:endParaRPr sz="1700" dirty="0">
              <a:latin typeface="Aptos"/>
            </a:endParaRPr>
          </a:p>
        </p:txBody>
      </p:sp>
      <p:sp>
        <p:nvSpPr>
          <p:cNvPr id="15" name="TextBox 14">
            <a:extLst>
              <a:ext uri="{FF2B5EF4-FFF2-40B4-BE49-F238E27FC236}">
                <a16:creationId xmlns:a16="http://schemas.microsoft.com/office/drawing/2014/main" id="{EBA4AD85-CA94-F82E-F32E-0BEDFB232C89}"/>
              </a:ext>
            </a:extLst>
          </p:cNvPr>
          <p:cNvSpPr txBox="1"/>
          <p:nvPr/>
        </p:nvSpPr>
        <p:spPr>
          <a:xfrm>
            <a:off x="731520" y="3902202"/>
            <a:ext cx="2926080" cy="384721"/>
          </a:xfrm>
          <a:prstGeom prst="rect">
            <a:avLst/>
          </a:prstGeom>
          <a:noFill/>
        </p:spPr>
        <p:txBody>
          <a:bodyPr wrap="square">
            <a:spAutoFit/>
          </a:bodyPr>
          <a:lstStyle/>
          <a:p>
            <a:pPr>
              <a:spcAft>
                <a:spcPts val="800"/>
              </a:spcAft>
              <a:defRPr sz="1900" b="1">
                <a:solidFill>
                  <a:srgbClr val="12203A"/>
                </a:solidFill>
              </a:defRPr>
            </a:pPr>
            <a:r>
              <a:rPr dirty="0"/>
              <a:t>Null baseline</a:t>
            </a:r>
            <a:r>
              <a:rPr lang="en-US" dirty="0"/>
              <a:t>: Grouped</a:t>
            </a:r>
            <a:endParaRPr dirty="0"/>
          </a:p>
        </p:txBody>
      </p:sp>
      <p:sp>
        <p:nvSpPr>
          <p:cNvPr id="16" name="Rectangle 15">
            <a:extLst>
              <a:ext uri="{FF2B5EF4-FFF2-40B4-BE49-F238E27FC236}">
                <a16:creationId xmlns:a16="http://schemas.microsoft.com/office/drawing/2014/main" id="{B7E73CDB-9F07-D8C1-2474-07F91E9B1BC3}"/>
              </a:ext>
            </a:extLst>
          </p:cNvPr>
          <p:cNvSpPr/>
          <p:nvPr/>
        </p:nvSpPr>
        <p:spPr>
          <a:xfrm>
            <a:off x="3637287" y="4786884"/>
            <a:ext cx="4122756" cy="438912"/>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a:extLst>
              <a:ext uri="{FF2B5EF4-FFF2-40B4-BE49-F238E27FC236}">
                <a16:creationId xmlns:a16="http://schemas.microsoft.com/office/drawing/2014/main" id="{15555ADE-E5E9-7A64-8548-8EF8A3E8B891}"/>
              </a:ext>
            </a:extLst>
          </p:cNvPr>
          <p:cNvSpPr txBox="1"/>
          <p:nvPr/>
        </p:nvSpPr>
        <p:spPr>
          <a:xfrm>
            <a:off x="10317470" y="3865962"/>
            <a:ext cx="1371600" cy="369332"/>
          </a:xfrm>
          <a:prstGeom prst="rect">
            <a:avLst/>
          </a:prstGeom>
          <a:noFill/>
        </p:spPr>
        <p:txBody>
          <a:bodyPr wrap="square">
            <a:spAutoFit/>
          </a:bodyPr>
          <a:lstStyle/>
          <a:p>
            <a:pPr>
              <a:spcAft>
                <a:spcPts val="800"/>
              </a:spcAft>
              <a:defRPr sz="1800" b="1">
                <a:solidFill>
                  <a:srgbClr val="12203A"/>
                </a:solidFill>
              </a:defRPr>
            </a:pPr>
            <a:r>
              <a:rPr lang="en-US" dirty="0"/>
              <a:t>8.538</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EVALUATION</a:t>
            </a:r>
          </a:p>
        </p:txBody>
      </p:sp>
      <p:sp>
        <p:nvSpPr>
          <p:cNvPr id="3" name="TextBox 2"/>
          <p:cNvSpPr txBox="1"/>
          <p:nvPr/>
        </p:nvSpPr>
        <p:spPr>
          <a:xfrm>
            <a:off x="594360" y="685800"/>
            <a:ext cx="10972800" cy="538609"/>
          </a:xfrm>
          <a:prstGeom prst="rect">
            <a:avLst/>
          </a:prstGeom>
          <a:noFill/>
        </p:spPr>
        <p:txBody>
          <a:bodyPr wrap="square">
            <a:spAutoFit/>
          </a:bodyPr>
          <a:lstStyle/>
          <a:p>
            <a:pPr>
              <a:spcAft>
                <a:spcPts val="800"/>
              </a:spcAft>
              <a:defRPr sz="2900" b="1">
                <a:solidFill>
                  <a:srgbClr val="12203A"/>
                </a:solidFill>
              </a:defRPr>
            </a:pPr>
            <a:r>
              <a:rPr dirty="0"/>
              <a:t>Comparing our </a:t>
            </a:r>
            <a:r>
              <a:rPr lang="en-US" dirty="0"/>
              <a:t>R</a:t>
            </a:r>
            <a:r>
              <a:rPr dirty="0"/>
              <a:t>egression </a:t>
            </a:r>
            <a:r>
              <a:rPr lang="en-US" dirty="0"/>
              <a:t>M</a:t>
            </a:r>
            <a:r>
              <a:rPr dirty="0"/>
              <a:t>odels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10512"/>
            <a:ext cx="6400800" cy="365760"/>
          </a:xfrm>
          <a:prstGeom prst="rect">
            <a:avLst/>
          </a:prstGeom>
          <a:noFill/>
        </p:spPr>
        <p:txBody>
          <a:bodyPr wrap="square">
            <a:spAutoFit/>
          </a:bodyPr>
          <a:lstStyle/>
          <a:p>
            <a:pPr>
              <a:spcAft>
                <a:spcPts val="800"/>
              </a:spcAft>
              <a:defRPr sz="1700" b="0">
                <a:solidFill>
                  <a:srgbClr val="12203A"/>
                </a:solidFill>
              </a:defRPr>
            </a:pPr>
            <a:r>
              <a:t>Null mean</a:t>
            </a:r>
          </a:p>
        </p:txBody>
      </p:sp>
      <p:sp>
        <p:nvSpPr>
          <p:cNvPr id="7" name="TextBox 6"/>
          <p:cNvSpPr txBox="1"/>
          <p:nvPr/>
        </p:nvSpPr>
        <p:spPr>
          <a:xfrm>
            <a:off x="7818120" y="1810512"/>
            <a:ext cx="1463040" cy="365760"/>
          </a:xfrm>
          <a:prstGeom prst="rect">
            <a:avLst/>
          </a:prstGeom>
          <a:noFill/>
        </p:spPr>
        <p:txBody>
          <a:bodyPr wrap="square">
            <a:spAutoFit/>
          </a:bodyPr>
          <a:lstStyle/>
          <a:p>
            <a:pPr>
              <a:spcAft>
                <a:spcPts val="800"/>
              </a:spcAft>
              <a:defRPr sz="1700" b="0">
                <a:solidFill>
                  <a:srgbClr val="12203A"/>
                </a:solidFill>
              </a:defRPr>
            </a:pPr>
            <a:r>
              <a:t>-0.004</a:t>
            </a:r>
          </a:p>
        </p:txBody>
      </p:sp>
      <p:sp>
        <p:nvSpPr>
          <p:cNvPr id="8" name="TextBox 7"/>
          <p:cNvSpPr txBox="1"/>
          <p:nvPr/>
        </p:nvSpPr>
        <p:spPr>
          <a:xfrm>
            <a:off x="9921240" y="1810512"/>
            <a:ext cx="1371600" cy="365760"/>
          </a:xfrm>
          <a:prstGeom prst="rect">
            <a:avLst/>
          </a:prstGeom>
          <a:noFill/>
        </p:spPr>
        <p:txBody>
          <a:bodyPr wrap="square">
            <a:spAutoFit/>
          </a:bodyPr>
          <a:lstStyle/>
          <a:p>
            <a:pPr>
              <a:spcAft>
                <a:spcPts val="800"/>
              </a:spcAft>
              <a:defRPr sz="1700" b="0">
                <a:solidFill>
                  <a:srgbClr val="12203A"/>
                </a:solidFill>
              </a:defRPr>
            </a:pPr>
            <a:r>
              <a:t>6.781</a:t>
            </a:r>
          </a:p>
        </p:txBody>
      </p:sp>
      <p:sp>
        <p:nvSpPr>
          <p:cNvPr id="9" name="TextBox 8"/>
          <p:cNvSpPr txBox="1"/>
          <p:nvPr/>
        </p:nvSpPr>
        <p:spPr>
          <a:xfrm>
            <a:off x="868680" y="2377440"/>
            <a:ext cx="6400800" cy="365760"/>
          </a:xfrm>
          <a:prstGeom prst="rect">
            <a:avLst/>
          </a:prstGeom>
          <a:noFill/>
        </p:spPr>
        <p:txBody>
          <a:bodyPr wrap="square">
            <a:spAutoFit/>
          </a:bodyPr>
          <a:lstStyle/>
          <a:p>
            <a:pPr>
              <a:spcAft>
                <a:spcPts val="800"/>
              </a:spcAft>
              <a:defRPr sz="1700" b="1">
                <a:solidFill>
                  <a:srgbClr val="12203A"/>
                </a:solidFill>
              </a:defRPr>
            </a:pPr>
            <a:r>
              <a:t>Ridge: all economic factors</a:t>
            </a:r>
          </a:p>
        </p:txBody>
      </p:sp>
      <p:sp>
        <p:nvSpPr>
          <p:cNvPr id="10" name="TextBox 9"/>
          <p:cNvSpPr txBox="1"/>
          <p:nvPr/>
        </p:nvSpPr>
        <p:spPr>
          <a:xfrm>
            <a:off x="7818120" y="2377440"/>
            <a:ext cx="1463040" cy="365760"/>
          </a:xfrm>
          <a:prstGeom prst="rect">
            <a:avLst/>
          </a:prstGeom>
          <a:noFill/>
        </p:spPr>
        <p:txBody>
          <a:bodyPr wrap="square">
            <a:spAutoFit/>
          </a:bodyPr>
          <a:lstStyle/>
          <a:p>
            <a:pPr>
              <a:spcAft>
                <a:spcPts val="800"/>
              </a:spcAft>
              <a:defRPr sz="1700" b="1">
                <a:solidFill>
                  <a:srgbClr val="12203A"/>
                </a:solidFill>
              </a:defRPr>
            </a:pPr>
            <a:r>
              <a:t>0.673</a:t>
            </a:r>
          </a:p>
        </p:txBody>
      </p:sp>
      <p:sp>
        <p:nvSpPr>
          <p:cNvPr id="11" name="TextBox 10"/>
          <p:cNvSpPr txBox="1"/>
          <p:nvPr/>
        </p:nvSpPr>
        <p:spPr>
          <a:xfrm>
            <a:off x="9921240" y="2377440"/>
            <a:ext cx="1371600" cy="365760"/>
          </a:xfrm>
          <a:prstGeom prst="rect">
            <a:avLst/>
          </a:prstGeom>
          <a:noFill/>
        </p:spPr>
        <p:txBody>
          <a:bodyPr wrap="square">
            <a:spAutoFit/>
          </a:bodyPr>
          <a:lstStyle/>
          <a:p>
            <a:pPr>
              <a:spcAft>
                <a:spcPts val="800"/>
              </a:spcAft>
              <a:defRPr sz="1700" b="1">
                <a:solidFill>
                  <a:srgbClr val="12203A"/>
                </a:solidFill>
              </a:defRPr>
            </a:pPr>
            <a:r>
              <a:t>3.708</a:t>
            </a:r>
          </a:p>
        </p:txBody>
      </p:sp>
      <p:sp>
        <p:nvSpPr>
          <p:cNvPr id="13" name="TextBox 12"/>
          <p:cNvSpPr txBox="1"/>
          <p:nvPr/>
        </p:nvSpPr>
        <p:spPr>
          <a:xfrm>
            <a:off x="868680" y="2944368"/>
            <a:ext cx="6400800" cy="365760"/>
          </a:xfrm>
          <a:prstGeom prst="rect">
            <a:avLst/>
          </a:prstGeom>
          <a:noFill/>
        </p:spPr>
        <p:txBody>
          <a:bodyPr wrap="square">
            <a:spAutoFit/>
          </a:bodyPr>
          <a:lstStyle/>
          <a:p>
            <a:pPr>
              <a:spcAft>
                <a:spcPts val="800"/>
              </a:spcAft>
              <a:defRPr sz="1700" b="0">
                <a:solidFill>
                  <a:srgbClr val="12203A"/>
                </a:solidFill>
              </a:defRPr>
            </a:pPr>
            <a:r>
              <a:t>Random forest</a:t>
            </a:r>
          </a:p>
        </p:txBody>
      </p:sp>
      <p:sp>
        <p:nvSpPr>
          <p:cNvPr id="14" name="TextBox 13"/>
          <p:cNvSpPr txBox="1"/>
          <p:nvPr/>
        </p:nvSpPr>
        <p:spPr>
          <a:xfrm>
            <a:off x="7818120" y="2944368"/>
            <a:ext cx="1463040" cy="365760"/>
          </a:xfrm>
          <a:prstGeom prst="rect">
            <a:avLst/>
          </a:prstGeom>
          <a:noFill/>
        </p:spPr>
        <p:txBody>
          <a:bodyPr wrap="square">
            <a:spAutoFit/>
          </a:bodyPr>
          <a:lstStyle/>
          <a:p>
            <a:pPr>
              <a:spcAft>
                <a:spcPts val="800"/>
              </a:spcAft>
              <a:defRPr sz="1700" b="0">
                <a:solidFill>
                  <a:srgbClr val="12203A"/>
                </a:solidFill>
              </a:defRPr>
            </a:pPr>
            <a:r>
              <a:t>0.481</a:t>
            </a:r>
          </a:p>
        </p:txBody>
      </p:sp>
      <p:sp>
        <p:nvSpPr>
          <p:cNvPr id="15" name="TextBox 14"/>
          <p:cNvSpPr txBox="1"/>
          <p:nvPr/>
        </p:nvSpPr>
        <p:spPr>
          <a:xfrm>
            <a:off x="9921240" y="2944368"/>
            <a:ext cx="1371600" cy="365760"/>
          </a:xfrm>
          <a:prstGeom prst="rect">
            <a:avLst/>
          </a:prstGeom>
          <a:noFill/>
        </p:spPr>
        <p:txBody>
          <a:bodyPr wrap="square">
            <a:spAutoFit/>
          </a:bodyPr>
          <a:lstStyle/>
          <a:p>
            <a:pPr>
              <a:spcAft>
                <a:spcPts val="800"/>
              </a:spcAft>
              <a:defRPr sz="1700" b="0">
                <a:solidFill>
                  <a:srgbClr val="12203A"/>
                </a:solidFill>
              </a:defRPr>
            </a:pPr>
            <a:r>
              <a:t>4.367</a:t>
            </a:r>
          </a:p>
        </p:txBody>
      </p:sp>
      <p:sp>
        <p:nvSpPr>
          <p:cNvPr id="16" name="TextBox 15"/>
          <p:cNvSpPr txBox="1"/>
          <p:nvPr/>
        </p:nvSpPr>
        <p:spPr>
          <a:xfrm>
            <a:off x="868680" y="3511296"/>
            <a:ext cx="6400800" cy="365760"/>
          </a:xfrm>
          <a:prstGeom prst="rect">
            <a:avLst/>
          </a:prstGeom>
          <a:noFill/>
        </p:spPr>
        <p:txBody>
          <a:bodyPr wrap="square">
            <a:spAutoFit/>
          </a:bodyPr>
          <a:lstStyle/>
          <a:p>
            <a:pPr>
              <a:spcAft>
                <a:spcPts val="800"/>
              </a:spcAft>
              <a:defRPr sz="1700" b="0">
                <a:solidFill>
                  <a:srgbClr val="12203A"/>
                </a:solidFill>
              </a:defRPr>
            </a:pPr>
            <a:r>
              <a:t>Decision tree</a:t>
            </a:r>
          </a:p>
        </p:txBody>
      </p:sp>
      <p:sp>
        <p:nvSpPr>
          <p:cNvPr id="17" name="TextBox 16"/>
          <p:cNvSpPr txBox="1"/>
          <p:nvPr/>
        </p:nvSpPr>
        <p:spPr>
          <a:xfrm>
            <a:off x="7818120" y="3511296"/>
            <a:ext cx="1463040" cy="365760"/>
          </a:xfrm>
          <a:prstGeom prst="rect">
            <a:avLst/>
          </a:prstGeom>
          <a:noFill/>
        </p:spPr>
        <p:txBody>
          <a:bodyPr wrap="square">
            <a:spAutoFit/>
          </a:bodyPr>
          <a:lstStyle/>
          <a:p>
            <a:pPr>
              <a:spcAft>
                <a:spcPts val="800"/>
              </a:spcAft>
              <a:defRPr sz="1700" b="0">
                <a:solidFill>
                  <a:srgbClr val="12203A"/>
                </a:solidFill>
              </a:defRPr>
            </a:pPr>
            <a:r>
              <a:t>0.319</a:t>
            </a:r>
          </a:p>
        </p:txBody>
      </p:sp>
      <p:sp>
        <p:nvSpPr>
          <p:cNvPr id="18" name="TextBox 17"/>
          <p:cNvSpPr txBox="1"/>
          <p:nvPr/>
        </p:nvSpPr>
        <p:spPr>
          <a:xfrm>
            <a:off x="9921240" y="3511296"/>
            <a:ext cx="1371600" cy="365760"/>
          </a:xfrm>
          <a:prstGeom prst="rect">
            <a:avLst/>
          </a:prstGeom>
          <a:noFill/>
        </p:spPr>
        <p:txBody>
          <a:bodyPr wrap="square">
            <a:spAutoFit/>
          </a:bodyPr>
          <a:lstStyle/>
          <a:p>
            <a:pPr>
              <a:spcAft>
                <a:spcPts val="800"/>
              </a:spcAft>
              <a:defRPr sz="1700" b="0">
                <a:solidFill>
                  <a:srgbClr val="12203A"/>
                </a:solidFill>
              </a:defRPr>
            </a:pPr>
            <a:r>
              <a:t>4.181</a:t>
            </a:r>
          </a:p>
        </p:txBody>
      </p:sp>
      <p:sp>
        <p:nvSpPr>
          <p:cNvPr id="20" name="TextBox 19"/>
          <p:cNvSpPr txBox="1"/>
          <p:nvPr/>
        </p:nvSpPr>
        <p:spPr>
          <a:xfrm>
            <a:off x="868680" y="4078224"/>
            <a:ext cx="6400800" cy="365760"/>
          </a:xfrm>
          <a:prstGeom prst="rect">
            <a:avLst/>
          </a:prstGeom>
          <a:noFill/>
        </p:spPr>
        <p:txBody>
          <a:bodyPr wrap="square">
            <a:spAutoFit/>
          </a:bodyPr>
          <a:lstStyle/>
          <a:p>
            <a:pPr>
              <a:spcAft>
                <a:spcPts val="800"/>
              </a:spcAft>
              <a:defRPr sz="1700" b="0">
                <a:solidFill>
                  <a:srgbClr val="12203A"/>
                </a:solidFill>
              </a:defRPr>
            </a:pPr>
            <a:r>
              <a:t>XGBoost</a:t>
            </a:r>
          </a:p>
        </p:txBody>
      </p:sp>
      <p:sp>
        <p:nvSpPr>
          <p:cNvPr id="21" name="TextBox 20"/>
          <p:cNvSpPr txBox="1"/>
          <p:nvPr/>
        </p:nvSpPr>
        <p:spPr>
          <a:xfrm>
            <a:off x="7818120" y="4078224"/>
            <a:ext cx="1463040" cy="365760"/>
          </a:xfrm>
          <a:prstGeom prst="rect">
            <a:avLst/>
          </a:prstGeom>
          <a:noFill/>
        </p:spPr>
        <p:txBody>
          <a:bodyPr wrap="square">
            <a:spAutoFit/>
          </a:bodyPr>
          <a:lstStyle/>
          <a:p>
            <a:pPr>
              <a:spcAft>
                <a:spcPts val="800"/>
              </a:spcAft>
              <a:defRPr sz="1700" b="0">
                <a:solidFill>
                  <a:srgbClr val="12203A"/>
                </a:solidFill>
              </a:defRPr>
            </a:pPr>
            <a:r>
              <a:t>0.300</a:t>
            </a:r>
          </a:p>
        </p:txBody>
      </p:sp>
      <p:sp>
        <p:nvSpPr>
          <p:cNvPr id="22" name="TextBox 21"/>
          <p:cNvSpPr txBox="1"/>
          <p:nvPr/>
        </p:nvSpPr>
        <p:spPr>
          <a:xfrm>
            <a:off x="9921240" y="4078224"/>
            <a:ext cx="1371600" cy="365760"/>
          </a:xfrm>
          <a:prstGeom prst="rect">
            <a:avLst/>
          </a:prstGeom>
          <a:noFill/>
        </p:spPr>
        <p:txBody>
          <a:bodyPr wrap="square">
            <a:spAutoFit/>
          </a:bodyPr>
          <a:lstStyle/>
          <a:p>
            <a:pPr>
              <a:spcAft>
                <a:spcPts val="800"/>
              </a:spcAft>
              <a:defRPr sz="1700" b="0">
                <a:solidFill>
                  <a:srgbClr val="12203A"/>
                </a:solidFill>
              </a:defRPr>
            </a:pPr>
            <a:r>
              <a:t>4.560</a:t>
            </a:r>
          </a:p>
        </p:txBody>
      </p:sp>
      <p:sp>
        <p:nvSpPr>
          <p:cNvPr id="23" name="TextBox 22"/>
          <p:cNvSpPr txBox="1"/>
          <p:nvPr/>
        </p:nvSpPr>
        <p:spPr>
          <a:xfrm>
            <a:off x="868680" y="4645152"/>
            <a:ext cx="6400800" cy="365760"/>
          </a:xfrm>
          <a:prstGeom prst="rect">
            <a:avLst/>
          </a:prstGeom>
          <a:noFill/>
        </p:spPr>
        <p:txBody>
          <a:bodyPr wrap="square">
            <a:spAutoFit/>
          </a:bodyPr>
          <a:lstStyle/>
          <a:p>
            <a:pPr>
              <a:spcAft>
                <a:spcPts val="800"/>
              </a:spcAft>
              <a:defRPr sz="1700" b="0">
                <a:solidFill>
                  <a:srgbClr val="12203A"/>
                </a:solidFill>
              </a:defRPr>
            </a:pPr>
            <a:r>
              <a:t>Ridge: grouped, no GDP/population</a:t>
            </a:r>
          </a:p>
        </p:txBody>
      </p:sp>
      <p:sp>
        <p:nvSpPr>
          <p:cNvPr id="24" name="TextBox 23"/>
          <p:cNvSpPr txBox="1"/>
          <p:nvPr/>
        </p:nvSpPr>
        <p:spPr>
          <a:xfrm>
            <a:off x="7818120" y="4645152"/>
            <a:ext cx="1463040" cy="365760"/>
          </a:xfrm>
          <a:prstGeom prst="rect">
            <a:avLst/>
          </a:prstGeom>
          <a:noFill/>
        </p:spPr>
        <p:txBody>
          <a:bodyPr wrap="square">
            <a:spAutoFit/>
          </a:bodyPr>
          <a:lstStyle/>
          <a:p>
            <a:pPr>
              <a:spcAft>
                <a:spcPts val="800"/>
              </a:spcAft>
              <a:defRPr sz="1700" b="0">
                <a:solidFill>
                  <a:srgbClr val="12203A"/>
                </a:solidFill>
              </a:defRPr>
            </a:pPr>
            <a:r>
              <a:t>0.171</a:t>
            </a:r>
          </a:p>
        </p:txBody>
      </p:sp>
      <p:sp>
        <p:nvSpPr>
          <p:cNvPr id="25" name="TextBox 24"/>
          <p:cNvSpPr txBox="1"/>
          <p:nvPr/>
        </p:nvSpPr>
        <p:spPr>
          <a:xfrm>
            <a:off x="9921240" y="4645152"/>
            <a:ext cx="1371600" cy="365760"/>
          </a:xfrm>
          <a:prstGeom prst="rect">
            <a:avLst/>
          </a:prstGeom>
          <a:noFill/>
        </p:spPr>
        <p:txBody>
          <a:bodyPr wrap="square">
            <a:spAutoFit/>
          </a:bodyPr>
          <a:lstStyle/>
          <a:p>
            <a:pPr>
              <a:spcAft>
                <a:spcPts val="800"/>
              </a:spcAft>
              <a:defRPr sz="1700" b="0">
                <a:solidFill>
                  <a:srgbClr val="12203A"/>
                </a:solidFill>
              </a:defRPr>
            </a:pPr>
            <a:r>
              <a:t>5.873</a:t>
            </a:r>
          </a:p>
        </p:txBody>
      </p:sp>
      <p:sp>
        <p:nvSpPr>
          <p:cNvPr id="26" name="TextBox 25"/>
          <p:cNvSpPr txBox="1"/>
          <p:nvPr/>
        </p:nvSpPr>
        <p:spPr>
          <a:xfrm>
            <a:off x="7772400" y="1508760"/>
            <a:ext cx="1280160" cy="274320"/>
          </a:xfrm>
          <a:prstGeom prst="rect">
            <a:avLst/>
          </a:prstGeom>
          <a:noFill/>
        </p:spPr>
        <p:txBody>
          <a:bodyPr wrap="square">
            <a:spAutoFit/>
          </a:bodyPr>
          <a:lstStyle/>
          <a:p>
            <a:pPr>
              <a:spcAft>
                <a:spcPts val="800"/>
              </a:spcAft>
              <a:defRPr sz="1500" b="1">
                <a:solidFill>
                  <a:srgbClr val="2667DA"/>
                </a:solidFill>
              </a:defRPr>
            </a:pPr>
            <a:r>
              <a:t>R²</a:t>
            </a:r>
          </a:p>
        </p:txBody>
      </p:sp>
      <p:sp>
        <p:nvSpPr>
          <p:cNvPr id="27" name="TextBox 26"/>
          <p:cNvSpPr txBox="1"/>
          <p:nvPr/>
        </p:nvSpPr>
        <p:spPr>
          <a:xfrm>
            <a:off x="9921240" y="1508760"/>
            <a:ext cx="1280160" cy="274320"/>
          </a:xfrm>
          <a:prstGeom prst="rect">
            <a:avLst/>
          </a:prstGeom>
          <a:noFill/>
        </p:spPr>
        <p:txBody>
          <a:bodyPr wrap="square">
            <a:spAutoFit/>
          </a:bodyPr>
          <a:lstStyle/>
          <a:p>
            <a:pPr>
              <a:spcAft>
                <a:spcPts val="800"/>
              </a:spcAft>
              <a:defRPr sz="1500" b="1">
                <a:solidFill>
                  <a:srgbClr val="2667DA"/>
                </a:solidFill>
              </a:defRPr>
            </a:pPr>
            <a:r>
              <a:t>MAE</a:t>
            </a:r>
          </a:p>
        </p:txBody>
      </p:sp>
      <p:sp>
        <p:nvSpPr>
          <p:cNvPr id="28" name="TextBox 27"/>
          <p:cNvSpPr txBox="1"/>
          <p:nvPr/>
        </p:nvSpPr>
        <p:spPr>
          <a:xfrm>
            <a:off x="777240" y="5806440"/>
            <a:ext cx="10515600" cy="457200"/>
          </a:xfrm>
          <a:prstGeom prst="rect">
            <a:avLst/>
          </a:prstGeom>
          <a:noFill/>
        </p:spPr>
        <p:txBody>
          <a:bodyPr wrap="square" lIns="38100" tIns="25400" rIns="38100" bIns="25400">
            <a:spAutoFit/>
          </a:bodyPr>
          <a:lstStyle/>
          <a:p>
            <a:pPr>
              <a:spcAft>
                <a:spcPts val="700"/>
              </a:spcAft>
            </a:pPr>
            <a:r>
              <a:rPr sz="1500">
                <a:latin typeface="Aptos"/>
              </a:rPr>
              <a:t>Ridge with all economic factors leads on both metrics (R² = 0.673; MAE = 3.708). The grouped model trails the baseline improvement, suggesting GDP and population contain substantial predictive information.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MODEL INTERPRETATION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Actual vs. predicted medal totals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ual_chart_57_0.png"/>
          <p:cNvPicPr>
            <a:picLocks noChangeAspect="1"/>
          </p:cNvPicPr>
          <p:nvPr/>
        </p:nvPicPr>
        <p:blipFill>
          <a:blip r:embed="rId2"/>
          <a:stretch>
            <a:fillRect/>
          </a:stretch>
        </p:blipFill>
        <p:spPr>
          <a:xfrm>
            <a:off x="1463431" y="1645920"/>
            <a:ext cx="5394177" cy="4297680"/>
          </a:xfrm>
          <a:prstGeom prst="rect">
            <a:avLst/>
          </a:prstGeom>
        </p:spPr>
      </p:pic>
      <p:sp>
        <p:nvSpPr>
          <p:cNvPr id="7" name="TextBox 6"/>
          <p:cNvSpPr txBox="1"/>
          <p:nvPr/>
        </p:nvSpPr>
        <p:spPr>
          <a:xfrm>
            <a:off x="7982712" y="1993392"/>
            <a:ext cx="3236976" cy="384048"/>
          </a:xfrm>
          <a:prstGeom prst="rect">
            <a:avLst/>
          </a:prstGeom>
          <a:noFill/>
        </p:spPr>
        <p:txBody>
          <a:bodyPr wrap="square">
            <a:spAutoFit/>
          </a:bodyPr>
          <a:lstStyle/>
          <a:p>
            <a:pPr>
              <a:spcAft>
                <a:spcPts val="800"/>
              </a:spcAft>
              <a:defRPr sz="1900" b="1">
                <a:solidFill>
                  <a:srgbClr val="12203A"/>
                </a:solidFill>
              </a:defRPr>
            </a:pPr>
            <a:r>
              <a:t>Interpretation</a:t>
            </a:r>
          </a:p>
        </p:txBody>
      </p:sp>
      <p:sp>
        <p:nvSpPr>
          <p:cNvPr id="8" name="TextBox 7"/>
          <p:cNvSpPr txBox="1"/>
          <p:nvPr/>
        </p:nvSpPr>
        <p:spPr>
          <a:xfrm>
            <a:off x="7982712" y="2487168"/>
            <a:ext cx="3236976" cy="3370153"/>
          </a:xfrm>
          <a:prstGeom prst="rect">
            <a:avLst/>
          </a:prstGeom>
          <a:noFill/>
        </p:spPr>
        <p:txBody>
          <a:bodyPr wrap="square" lIns="38100" tIns="25400" rIns="38100" bIns="25400">
            <a:spAutoFit/>
          </a:bodyPr>
          <a:lstStyle/>
          <a:p>
            <a:pPr>
              <a:spcAft>
                <a:spcPts val="700"/>
              </a:spcAft>
            </a:pPr>
            <a:r>
              <a:rPr sz="1700" dirty="0">
                <a:latin typeface="Aptos"/>
              </a:rPr>
              <a:t>Predictions generally rise as actual medal totals rise, showing that economic conditions capture meaningful differences among countries.</a:t>
            </a:r>
            <a:r>
              <a:rPr lang="en-US" sz="1700" dirty="0">
                <a:latin typeface="Aptos"/>
              </a:rPr>
              <a:t> This chart represents group 16’s total medals.</a:t>
            </a:r>
            <a:endParaRPr sz="1700" dirty="0">
              <a:latin typeface="Aptos"/>
            </a:endParaRPr>
          </a:p>
          <a:p>
            <a:pPr>
              <a:spcAft>
                <a:spcPts val="700"/>
              </a:spcAft>
            </a:pPr>
            <a:endParaRPr sz="1700" dirty="0">
              <a:latin typeface="Aptos"/>
            </a:endParaRPr>
          </a:p>
          <a:p>
            <a:pPr>
              <a:spcAft>
                <a:spcPts val="700"/>
              </a:spcAft>
            </a:pPr>
            <a:r>
              <a:rPr sz="1700" dirty="0">
                <a:latin typeface="Aptos"/>
              </a:rPr>
              <a:t>However, predictions are less reliable for countries with exceptionally high medal totals</a:t>
            </a:r>
            <a:r>
              <a:rPr lang="en-US" sz="1700" dirty="0">
                <a:latin typeface="Aptos"/>
              </a:rPr>
              <a:t> and exceptionally low medal totals.</a:t>
            </a:r>
            <a:endParaRPr sz="1700" dirty="0">
              <a:latin typeface="Apto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KEY FINDINGS</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What did we learn?</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ctual_chart_48_0.png"/>
          <p:cNvPicPr>
            <a:picLocks noChangeAspect="1"/>
          </p:cNvPicPr>
          <p:nvPr/>
        </p:nvPicPr>
        <p:blipFill>
          <a:blip r:embed="rId2"/>
          <a:stretch>
            <a:fillRect/>
          </a:stretch>
        </p:blipFill>
        <p:spPr>
          <a:xfrm>
            <a:off x="1499880" y="1783080"/>
            <a:ext cx="4909799" cy="4069080"/>
          </a:xfrm>
          <a:prstGeom prst="rect">
            <a:avLst/>
          </a:prstGeom>
        </p:spPr>
      </p:pic>
      <p:sp>
        <p:nvSpPr>
          <p:cNvPr id="7" name="TextBox 6"/>
          <p:cNvSpPr txBox="1"/>
          <p:nvPr/>
        </p:nvSpPr>
        <p:spPr>
          <a:xfrm>
            <a:off x="7525512" y="1947672"/>
            <a:ext cx="3739896" cy="384048"/>
          </a:xfrm>
          <a:prstGeom prst="rect">
            <a:avLst/>
          </a:prstGeom>
          <a:noFill/>
        </p:spPr>
        <p:txBody>
          <a:bodyPr wrap="square">
            <a:spAutoFit/>
          </a:bodyPr>
          <a:lstStyle/>
          <a:p>
            <a:pPr>
              <a:spcAft>
                <a:spcPts val="800"/>
              </a:spcAft>
              <a:defRPr sz="1900" b="1">
                <a:solidFill>
                  <a:srgbClr val="12203A"/>
                </a:solidFill>
              </a:defRPr>
            </a:pPr>
            <a:r>
              <a:t>Evidence from the models</a:t>
            </a:r>
          </a:p>
        </p:txBody>
      </p:sp>
      <p:sp>
        <p:nvSpPr>
          <p:cNvPr id="8" name="TextBox 7"/>
          <p:cNvSpPr txBox="1"/>
          <p:nvPr/>
        </p:nvSpPr>
        <p:spPr>
          <a:xfrm>
            <a:off x="7525512" y="2441448"/>
            <a:ext cx="3739896" cy="3291840"/>
          </a:xfrm>
          <a:prstGeom prst="rect">
            <a:avLst/>
          </a:prstGeom>
          <a:noFill/>
        </p:spPr>
        <p:txBody>
          <a:bodyPr wrap="square" lIns="38100" tIns="25400" rIns="38100" bIns="25400">
            <a:spAutoFit/>
          </a:bodyPr>
          <a:lstStyle/>
          <a:p>
            <a:pPr>
              <a:spcAft>
                <a:spcPts val="700"/>
              </a:spcAft>
            </a:pPr>
            <a:r>
              <a:rPr sz="1700" dirty="0">
                <a:latin typeface="Aptos"/>
              </a:rPr>
              <a:t>The all-factor Ridge model performs best on held-out countries (R² = 0.673; MAE = 3.708), beating the mean-only baseline (MAE = 6.781).</a:t>
            </a:r>
          </a:p>
          <a:p>
            <a:pPr>
              <a:spcAft>
                <a:spcPts val="700"/>
              </a:spcAft>
            </a:pPr>
            <a:endParaRPr sz="1700" dirty="0">
              <a:latin typeface="Aptos"/>
            </a:endParaRPr>
          </a:p>
          <a:p>
            <a:pPr>
              <a:spcAft>
                <a:spcPts val="700"/>
              </a:spcAft>
            </a:pPr>
            <a:r>
              <a:rPr sz="1700" dirty="0">
                <a:latin typeface="Aptos"/>
              </a:rPr>
              <a:t>The grouped Ridge approach without direct GDP/population predictors is weaker (R² = 0.171; MAE = 5.873). Grouping alone does not recover the predictive information lost by excluding these variables.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LIMITATIONS AND NEXT STEPS</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Challenges, future work and implications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50392" y="1901952"/>
            <a:ext cx="4928616" cy="384048"/>
          </a:xfrm>
          <a:prstGeom prst="rect">
            <a:avLst/>
          </a:prstGeom>
          <a:noFill/>
        </p:spPr>
        <p:txBody>
          <a:bodyPr wrap="square">
            <a:spAutoFit/>
          </a:bodyPr>
          <a:lstStyle/>
          <a:p>
            <a:pPr>
              <a:spcAft>
                <a:spcPts val="800"/>
              </a:spcAft>
              <a:defRPr sz="1900" b="1">
                <a:solidFill>
                  <a:srgbClr val="12203A"/>
                </a:solidFill>
              </a:defRPr>
            </a:pPr>
            <a:r>
              <a:t>Challenges</a:t>
            </a:r>
          </a:p>
        </p:txBody>
      </p:sp>
      <p:sp>
        <p:nvSpPr>
          <p:cNvPr id="7" name="TextBox 6"/>
          <p:cNvSpPr txBox="1"/>
          <p:nvPr/>
        </p:nvSpPr>
        <p:spPr>
          <a:xfrm>
            <a:off x="850392" y="2395728"/>
            <a:ext cx="4928616" cy="3154679"/>
          </a:xfrm>
          <a:prstGeom prst="rect">
            <a:avLst/>
          </a:prstGeom>
          <a:noFill/>
        </p:spPr>
        <p:txBody>
          <a:bodyPr wrap="square" lIns="38100" tIns="25400" rIns="38100" bIns="25400">
            <a:spAutoFit/>
          </a:bodyPr>
          <a:lstStyle/>
          <a:p>
            <a:pPr>
              <a:spcAft>
                <a:spcPts val="700"/>
              </a:spcAft>
            </a:pPr>
            <a:r>
              <a:rPr sz="1700">
                <a:latin typeface="Aptos"/>
              </a:rPr>
              <a:t>• Missing indicators vary across countries and years, reducing usable training data.</a:t>
            </a:r>
          </a:p>
          <a:p>
            <a:pPr>
              <a:spcAft>
                <a:spcPts val="700"/>
              </a:spcAft>
            </a:pPr>
            <a:r>
              <a:rPr sz="1700">
                <a:latin typeface="Aptos"/>
              </a:rPr>
              <a:t>• Medal totals are highly skewed: a small number of countries win many medals.</a:t>
            </a:r>
          </a:p>
          <a:p>
            <a:pPr>
              <a:spcAft>
                <a:spcPts val="700"/>
              </a:spcAft>
            </a:pPr>
            <a:r>
              <a:rPr sz="1700">
                <a:latin typeface="Aptos"/>
              </a:rPr>
              <a:t>• GDP and population can overshadow weaker relationships with other indicators.</a:t>
            </a:r>
          </a:p>
          <a:p>
            <a:pPr>
              <a:spcAft>
                <a:spcPts val="700"/>
              </a:spcAft>
            </a:pPr>
            <a:r>
              <a:rPr sz="1700">
                <a:latin typeface="Aptos"/>
              </a:rPr>
              <a:t>• Correlations describe associations, not proof that economic policy causes medals.</a:t>
            </a:r>
          </a:p>
        </p:txBody>
      </p:sp>
      <p:sp>
        <p:nvSpPr>
          <p:cNvPr id="9" name="TextBox 8"/>
          <p:cNvSpPr txBox="1"/>
          <p:nvPr/>
        </p:nvSpPr>
        <p:spPr>
          <a:xfrm>
            <a:off x="6336792" y="1901952"/>
            <a:ext cx="4928616" cy="384048"/>
          </a:xfrm>
          <a:prstGeom prst="rect">
            <a:avLst/>
          </a:prstGeom>
          <a:noFill/>
        </p:spPr>
        <p:txBody>
          <a:bodyPr wrap="square">
            <a:spAutoFit/>
          </a:bodyPr>
          <a:lstStyle/>
          <a:p>
            <a:pPr>
              <a:spcAft>
                <a:spcPts val="800"/>
              </a:spcAft>
              <a:defRPr sz="1900" b="1">
                <a:solidFill>
                  <a:srgbClr val="12203A"/>
                </a:solidFill>
              </a:defRPr>
            </a:pPr>
            <a:r>
              <a:t>Next steps</a:t>
            </a:r>
          </a:p>
        </p:txBody>
      </p:sp>
      <p:sp>
        <p:nvSpPr>
          <p:cNvPr id="10" name="TextBox 9"/>
          <p:cNvSpPr txBox="1"/>
          <p:nvPr/>
        </p:nvSpPr>
        <p:spPr>
          <a:xfrm>
            <a:off x="6336792" y="2395728"/>
            <a:ext cx="4928616" cy="3377848"/>
          </a:xfrm>
          <a:prstGeom prst="rect">
            <a:avLst/>
          </a:prstGeom>
          <a:noFill/>
        </p:spPr>
        <p:txBody>
          <a:bodyPr wrap="square" lIns="38100" tIns="25400" rIns="38100" bIns="25400">
            <a:spAutoFit/>
          </a:bodyPr>
          <a:lstStyle/>
          <a:p>
            <a:pPr>
              <a:spcAft>
                <a:spcPts val="700"/>
              </a:spcAft>
            </a:pPr>
            <a:r>
              <a:rPr sz="1700" dirty="0">
                <a:latin typeface="Aptos"/>
              </a:rPr>
              <a:t>• Validate across multiple Olympic years to test whether results generalize over time.</a:t>
            </a:r>
          </a:p>
          <a:p>
            <a:pPr>
              <a:spcAft>
                <a:spcPts val="700"/>
              </a:spcAft>
            </a:pPr>
            <a:r>
              <a:rPr sz="1700" dirty="0">
                <a:latin typeface="Aptos"/>
              </a:rPr>
              <a:t>• Tune hyperparameters and compare models using consistent cross-validation.</a:t>
            </a:r>
          </a:p>
          <a:p>
            <a:pPr>
              <a:spcAft>
                <a:spcPts val="700"/>
              </a:spcAft>
            </a:pPr>
            <a:r>
              <a:rPr sz="1700" dirty="0">
                <a:latin typeface="Aptos"/>
              </a:rPr>
              <a:t>• Analyze medals per athlete alongside total</a:t>
            </a:r>
            <a:r>
              <a:rPr lang="en-US" sz="1700" dirty="0">
                <a:latin typeface="Aptos"/>
              </a:rPr>
              <a:t> participation per population.</a:t>
            </a:r>
            <a:endParaRPr sz="1700" dirty="0">
              <a:latin typeface="Aptos"/>
            </a:endParaRPr>
          </a:p>
          <a:p>
            <a:pPr>
              <a:spcAft>
                <a:spcPts val="700"/>
              </a:spcAft>
            </a:pPr>
            <a:r>
              <a:rPr sz="1700" dirty="0">
                <a:latin typeface="Aptos"/>
              </a:rPr>
              <a:t>• Examine prediction errors by country size and income group to identify systematic bias.</a:t>
            </a:r>
            <a:endParaRPr lang="en-US" sz="1700" dirty="0">
              <a:latin typeface="Aptos"/>
            </a:endParaRPr>
          </a:p>
          <a:p>
            <a:pPr>
              <a:spcAft>
                <a:spcPts val="700"/>
              </a:spcAft>
            </a:pPr>
            <a:r>
              <a:rPr lang="en-US" sz="1700" dirty="0">
                <a:latin typeface="Aptos"/>
              </a:rPr>
              <a:t>• Tune grouped models to better analyze individual economic factors within groups</a:t>
            </a:r>
          </a:p>
          <a:p>
            <a:pPr>
              <a:spcAft>
                <a:spcPts val="700"/>
              </a:spcAft>
            </a:pPr>
            <a:endParaRPr sz="1700" dirty="0">
              <a:latin typeface="Apto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274320"/>
            <a:ext cx="10058400" cy="274320"/>
          </a:xfrm>
          <a:prstGeom prst="rect">
            <a:avLst/>
          </a:prstGeom>
          <a:noFill/>
        </p:spPr>
        <p:txBody>
          <a:bodyPr wrap="square">
            <a:spAutoFit/>
          </a:bodyPr>
          <a:lstStyle/>
          <a:p>
            <a:pPr>
              <a:spcAft>
                <a:spcPts val="800"/>
              </a:spcAft>
              <a:defRPr sz="1200" b="1">
                <a:solidFill>
                  <a:srgbClr val="2667DA"/>
                </a:solidFill>
              </a:defRPr>
            </a:pPr>
            <a:r>
              <a:t>CONCLUSION</a:t>
            </a:r>
          </a:p>
        </p:txBody>
      </p:sp>
      <p:sp>
        <p:nvSpPr>
          <p:cNvPr id="3" name="TextBox 2"/>
          <p:cNvSpPr txBox="1"/>
          <p:nvPr/>
        </p:nvSpPr>
        <p:spPr>
          <a:xfrm>
            <a:off x="594360" y="685800"/>
            <a:ext cx="10972800" cy="640080"/>
          </a:xfrm>
          <a:prstGeom prst="rect">
            <a:avLst/>
          </a:prstGeom>
          <a:noFill/>
        </p:spPr>
        <p:txBody>
          <a:bodyPr wrap="square">
            <a:spAutoFit/>
          </a:bodyPr>
          <a:lstStyle/>
          <a:p>
            <a:pPr>
              <a:spcAft>
                <a:spcPts val="800"/>
              </a:spcAft>
              <a:defRPr sz="2900" b="1">
                <a:solidFill>
                  <a:srgbClr val="12203A"/>
                </a:solidFill>
              </a:defRPr>
            </a:pPr>
            <a:r>
              <a:t>Economic conditions help explain Olympic success</a:t>
            </a:r>
          </a:p>
        </p:txBody>
      </p:sp>
      <p:sp>
        <p:nvSpPr>
          <p:cNvPr id="4" name="Rectangle 3"/>
          <p:cNvSpPr/>
          <p:nvPr/>
        </p:nvSpPr>
        <p:spPr>
          <a:xfrm>
            <a:off x="594360" y="1444752"/>
            <a:ext cx="10972800" cy="32004"/>
          </a:xfrm>
          <a:prstGeom prst="rect">
            <a:avLst/>
          </a:prstGeom>
          <a:solidFill>
            <a:srgbClr val="2667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947672"/>
            <a:ext cx="10369296" cy="384048"/>
          </a:xfrm>
          <a:prstGeom prst="rect">
            <a:avLst/>
          </a:prstGeom>
          <a:noFill/>
        </p:spPr>
        <p:txBody>
          <a:bodyPr wrap="square">
            <a:spAutoFit/>
          </a:bodyPr>
          <a:lstStyle/>
          <a:p>
            <a:pPr>
              <a:spcAft>
                <a:spcPts val="800"/>
              </a:spcAft>
              <a:defRPr sz="1900" b="1">
                <a:solidFill>
                  <a:srgbClr val="12203A"/>
                </a:solidFill>
              </a:defRPr>
            </a:pPr>
            <a:r>
              <a:rPr dirty="0"/>
              <a:t>Main </a:t>
            </a:r>
            <a:r>
              <a:rPr lang="en-US" dirty="0"/>
              <a:t>T</a:t>
            </a:r>
            <a:r>
              <a:rPr dirty="0"/>
              <a:t>akeaway</a:t>
            </a:r>
          </a:p>
        </p:txBody>
      </p:sp>
      <p:sp>
        <p:nvSpPr>
          <p:cNvPr id="7" name="TextBox 6"/>
          <p:cNvSpPr txBox="1"/>
          <p:nvPr/>
        </p:nvSpPr>
        <p:spPr>
          <a:xfrm>
            <a:off x="896112" y="2441448"/>
            <a:ext cx="10369296" cy="1538883"/>
          </a:xfrm>
          <a:prstGeom prst="rect">
            <a:avLst/>
          </a:prstGeom>
          <a:noFill/>
        </p:spPr>
        <p:txBody>
          <a:bodyPr wrap="square" lIns="38100" tIns="25400" rIns="38100" bIns="25400">
            <a:spAutoFit/>
          </a:bodyPr>
          <a:lstStyle/>
          <a:p>
            <a:pPr>
              <a:spcAft>
                <a:spcPts val="700"/>
              </a:spcAft>
            </a:pPr>
            <a:r>
              <a:rPr sz="1700" dirty="0">
                <a:latin typeface="Aptos"/>
              </a:rPr>
              <a:t>Economic indicators help predict national Olympic medal totals. Our strongest model—Ridge regression using the full economic feature set—achieves MAE 3.708, compared with 6.781 for a mean-only baseline.</a:t>
            </a:r>
          </a:p>
          <a:p>
            <a:pPr>
              <a:spcAft>
                <a:spcPts val="700"/>
              </a:spcAft>
            </a:pPr>
            <a:endParaRPr sz="1700" dirty="0">
              <a:latin typeface="Aptos"/>
            </a:endParaRPr>
          </a:p>
          <a:p>
            <a:pPr>
              <a:spcAft>
                <a:spcPts val="700"/>
              </a:spcAft>
            </a:pPr>
            <a:r>
              <a:rPr sz="1700" dirty="0">
                <a:latin typeface="Aptos"/>
              </a:rPr>
              <a:t>GDP and population are informative, but differences within similarly sized and wealthy country groups suggest that additional factors and sporting context deserve further study. </a:t>
            </a:r>
          </a:p>
        </p:txBody>
      </p:sp>
      <p:sp>
        <p:nvSpPr>
          <p:cNvPr id="8" name="TextBox 7"/>
          <p:cNvSpPr txBox="1"/>
          <p:nvPr/>
        </p:nvSpPr>
        <p:spPr>
          <a:xfrm>
            <a:off x="896112" y="4454611"/>
            <a:ext cx="10058400" cy="594360"/>
          </a:xfrm>
          <a:prstGeom prst="rect">
            <a:avLst/>
          </a:prstGeom>
          <a:noFill/>
        </p:spPr>
        <p:txBody>
          <a:bodyPr wrap="square">
            <a:spAutoFit/>
          </a:bodyPr>
          <a:lstStyle/>
          <a:p>
            <a:pPr>
              <a:spcAft>
                <a:spcPts val="800"/>
              </a:spcAft>
              <a:defRPr sz="2800" b="1">
                <a:solidFill>
                  <a:srgbClr val="2667DA"/>
                </a:solidFill>
              </a:defRPr>
            </a:pPr>
            <a:r>
              <a:rPr dirty="0"/>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29</TotalTime>
  <Words>597</Words>
  <Application>Microsoft Macintosh PowerPoint</Application>
  <PresentationFormat>Widescreen</PresentationFormat>
  <Paragraphs>78</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Ethan Westfall</cp:lastModifiedBy>
  <cp:revision>2</cp:revision>
  <dcterms:created xsi:type="dcterms:W3CDTF">2013-01-27T09:14:16Z</dcterms:created>
  <dcterms:modified xsi:type="dcterms:W3CDTF">2026-10-20T20:12:45Z</dcterms:modified>
  <cp:category/>
</cp:coreProperties>
</file>