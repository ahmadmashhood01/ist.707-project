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 id="269" r:id="rId14"/>
    <p:sldId id="270" r:id="rId15"/>
    <p:sldId id="271" r:id="rId16"/>
    <p:sldId id="272" r:id="rId17"/>
    <p:sldId id="273"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2"/>
  </p:normalViewPr>
  <p:slideViewPr>
    <p:cSldViewPr snapToGrid="0" snapToObjects="1">
      <p:cViewPr varScale="1">
        <p:scale>
          <a:sx n="104" d="100"/>
          <a:sy n="104" d="100"/>
        </p:scale>
        <p:origin x="800"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Null baseline (about 1.5 minutes)</a:t>
            </a:r>
          </a:p>
          <a:p/>
          <a:p>
            <a:r>
              <a:t>Opening: This section is where we show whether our models are actually learning anything, or just repeating an obvious guess.</a:t>
            </a:r>
          </a:p>
          <a:p/>
          <a:p>
            <a:r>
              <a:t>Say: Our null baseline for regression is deliberately dumb but fair. For every country in the 2016 test set, we predict the same number: the average total medals from the training countries. We ignore population, GDP, health spending, team size, and every other feature. That is the floor any real model has to beat.</a:t>
            </a:r>
          </a:p>
          <a:p/>
          <a:p>
            <a:r>
              <a:t>Say: We report MAE and R-squared on the same 25 percent holdout of countries, with the same random split every time, so comparisons are apples to apples. MAE is in medals: how far off we are on average. R-squared tells us whether we explain variation beyond a flat guess.</a:t>
            </a:r>
          </a:p>
          <a:p/>
          <a:p>
            <a:r>
              <a:t>Walk the numbers on the slide: Null baseline MAE about 6.8 medals and R-squared essentially zero, about negative 0.004. That means predicting the mean is almost useless for spread across countries. The grouped null variant is similar in R-squared; MAE can differ slightly depending on which countries sit in the test fold.</a:t>
            </a:r>
          </a:p>
          <a:p/>
          <a:p>
            <a:r>
              <a:t>Transition: If economic indicators matter, our Ridge and tree models should beat this baseline clearly on MAE and R-squared.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Ridge beats the null (about 1.5 minutes)</a:t>
            </a:r>
          </a:p>
          <a:p/>
          <a:p>
            <a:r>
              <a:t>Opening: Here we answer the first stakeholder question: do economic predictors add value beyond a constant guess?</a:t>
            </a:r>
          </a:p>
          <a:p/>
          <a:p>
            <a:r>
              <a:t>Say: The left comparison is MAE for the plain null versus Ridge with all well-covered economic factors, about 33 indicators with at least 80 percent coverage among our 2016 modeling countries. Error drops from about 6.781 to about 3.708 medals on average. That is roughly a 45 percent reduction in MAE, which is a large practical improvement for planning scenarios.</a:t>
            </a:r>
          </a:p>
          <a:p/>
          <a:p>
            <a:r>
              <a:t>Say: We also trained Ridge with country groups and without direct GDP and population columns in the feature matrix. That grouped Ridge lands around 5.873 MAE. It still beats the simple null on this slide in some setups, but it is much worse than the all-factor Ridge. The story is that size and wealth still carry a lot of signal, even when we try to summarize countries with groups.</a:t>
            </a:r>
          </a:p>
          <a:p/>
          <a:p>
            <a:r>
              <a:t>Point at the grouped null baseline number if shown (about 8.538): remind the audience that baselines must match the same sample; we always compare models trained and tested on the same countries.</a:t>
            </a:r>
          </a:p>
          <a:p/>
          <a:p>
            <a:r>
              <a:t>Transition: Slide 13 puts every regression model side by side on R-squared and MAE.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Model comparison table (about 2 minutes)</a:t>
            </a:r>
          </a:p>
          <a:p/>
          <a:p>
            <a:r>
              <a:t>Opening: This is our midterm scoreboard for predicting total medals in Rio 2016 for held-out countries.</a:t>
            </a:r>
          </a:p>
          <a:p/>
          <a:p>
            <a:r>
              <a:t>Say: Read the winner first. Ridge with all economic factors leads with R-squared about 0.673 and MAE about 3.708. That is our best regression model at midterm on this split. It means economic features together explain a substantial share of medal differences among countries, not just USA versus small nations.</a:t>
            </a:r>
          </a:p>
          <a:p/>
          <a:p>
            <a:r>
              <a:t>Say: Random forest is our strongest nonlinear model on this chart, around 0.481 R-squared and 4.367 MAE. It captures some nonlinear patterns but still trails full Ridge here. XGBoost and the single decision tree are farther back on R-squared in this deck; the shallow tree in particular can overfit the training countries and fail on the test set, which is why we cap depth and prefer Ridge and ensembles for now.</a:t>
            </a:r>
          </a:p>
          <a:p/>
          <a:p>
            <a:r>
              <a:t>Say: The grouped Ridge without GDP and population is intentionally harder: R-squared about 0.171, MAE about 5.873. That experiment shows grouping alone does not replace classic size and wealth indicators. It is still useful for stakeholders who want to talk about tiers of nations without naming GDP every time, but prediction suffers.</a:t>
            </a:r>
          </a:p>
          <a:p/>
          <a:p>
            <a:r>
              <a:t>Close: For medal totals we care about MAE and R-squared, not accuracy. Many countries have zero medals; accuracy would hide that.</a:t>
            </a:r>
          </a:p>
          <a:p/>
          <a:p>
            <a:r>
              <a:t>Transition: Slide 14 shows what good predictions look like visually for one of our groups.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Actual versus predicted (about 1.5 minutes)</a:t>
            </a:r>
          </a:p>
          <a:p/>
          <a:p>
            <a:r>
              <a:t>Opening: Metrics are necessary; this plot makes the model behavior concrete.</a:t>
            </a:r>
          </a:p>
          <a:p/>
          <a:p>
            <a:r>
              <a:t>Say: Each point is a country in the test set. Horizontal axis is actual 2016 total medals; vertical axis is what the model predicted. Points near the diagonal line are good predictions. The upward trend means when a country actually wins more medals, our model tends to predict more, which is what we want from a regression model.</a:t>
            </a:r>
          </a:p>
          <a:p/>
          <a:p>
            <a:r>
              <a:t>Say: The slide calls out group 16 as an example slice of the data. Use that to explain we are not only modeling global giants; we also look inside similar country groups to see over- and under-performance relative to expectations.</a:t>
            </a:r>
          </a:p>
          <a:p/>
          <a:p>
            <a:r>
              <a:t>Say the honest limitation on the slide: the model struggles at the extremes. Very high medal totals like top Olympic powers are often under-predicted because a few nations dominate historically. Countries with zero or very few medals are also hard; economic data alone cannot capture sport-specific talent pipelines, hosting effects, or sports federation focus.</a:t>
            </a:r>
          </a:p>
          <a:p/>
          <a:p>
            <a:r>
              <a:t>If asked: this is correlation and prediction from one Games year with one train-test split; we are not claiming causality.</a:t>
            </a:r>
          </a:p>
          <a:p/>
          <a:p>
            <a:r>
              <a:t>Transition: Slide 15 summarizes takeaways for the class and stakeholders.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 Key findings (about 1.5 minutes)</a:t>
            </a:r>
          </a:p>
          <a:p/>
          <a:p>
            <a:r>
              <a:t>Opening: Three sentences a minister or NOC planner could remember.</a:t>
            </a:r>
          </a:p>
          <a:p/>
          <a:p>
            <a:r>
              <a:t>Say: First finding on the slide: the all-factor Ridge model is our strongest held-out performer, R-squared about 0.673, MAE about 3.708, versus about 6.781 MAE for the mean-only baseline. Economic indicators, taken together, add real predictive value for total medals among countries in our sample.</a:t>
            </a:r>
          </a:p>
          <a:p/>
          <a:p>
            <a:r>
              <a:t>Say: Second finding: when we remove GDP and population from the feature set and lean on country groups, performance drops sharply to R-squared about 0.171 and MAE about 5.873. Groups help interpretation and missing-data structure, but they do not fully substitute for classic resource variables from the literature.</a:t>
            </a:r>
          </a:p>
          <a:p/>
          <a:p>
            <a:r>
              <a:t>Say: Third point for discussion: within similar GDP and population bins, some countries still punch above or below expectations. That motivates our stakeholder metrics like medals per athlete and the efficiency work in the EDA notebook, not only raw totals.</a:t>
            </a:r>
          </a:p>
          <a:p/>
          <a:p>
            <a:r>
              <a:t>Transition: Slide 16 is where we admit what can go wrong and what we will do before the final.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 Limitations and next steps (about 2 minutes)</a:t>
            </a:r>
          </a:p>
          <a:p/>
          <a:p>
            <a:r>
              <a:t>Opening: Strong results on one split still have caveats; we want the class to trust us because we name them.</a:t>
            </a:r>
          </a:p>
          <a:p/>
          <a:p>
            <a:r>
              <a:t>Challenges — hit each bullet briefly:</a:t>
            </a:r>
          </a:p>
          <a:p>
            <a:r>
              <a:t>• Missing WDI values: many lower-income countries have sparse indicators, so we require coverage thresholds and imputation. That can under-represent the nations Olympic Solidarity cares about most.</a:t>
            </a:r>
          </a:p>
          <a:p>
            <a:r>
              <a:t>• Skewed medal counts: a handful of countries win most medals; means and errors are driven by that tail.</a:t>
            </a:r>
          </a:p>
          <a:p>
            <a:r>
              <a:t>• Dominance of GDP and population: collinearity makes it hard to say which secondary indicator matters in linear models; tree models help but are less transparent.</a:t>
            </a:r>
          </a:p>
          <a:p>
            <a:r>
              <a:t>• Association not causation: better health or education correlates with medals; we are not claiming a policy change guarantees podiums.</a:t>
            </a:r>
          </a:p>
          <a:p/>
          <a:p>
            <a:r>
              <a:t>Next steps — tie to the project plan:</a:t>
            </a:r>
          </a:p>
          <a:p>
            <a:r>
              <a:t>• Train and test across multiple Olympic years so we are not only fitting Rio 2016.</a:t>
            </a:r>
          </a:p>
          <a:p>
            <a:r>
              <a:t>• Hyperparameter tuning and consistent cross-validation for random forest, XGBoost, and LightGBM.</a:t>
            </a:r>
          </a:p>
          <a:p>
            <a:r>
              <a:t>• Push medals-per-athlete and participation-adjusted metrics for the final report.</a:t>
            </a:r>
          </a:p>
          <a:p>
            <a:r>
              <a:t>• Break errors out by income and population group to see systematic bias.</a:t>
            </a:r>
          </a:p>
          <a:p>
            <a:r>
              <a:t>• Improve grouped models so we can interpret factors within tiers, not only at the global level.</a:t>
            </a:r>
          </a:p>
          <a:p/>
          <a:p>
            <a:r>
              <a:t>Transition: Slide 17 closes and opens Q&amp;A.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 Conclusion and Q&amp;A (about 1 minute, then discussion)</a:t>
            </a:r>
          </a:p>
          <a:p/>
          <a:p>
            <a:r>
              <a:t>CLOSING (say this first):</a:t>
            </a:r>
          </a:p>
          <a:p>
            <a:r>
              <a:t>National economic conditions help explain Olympic medal totals in our merged World Bank and Olympedia data. Our best midterm regression model is Ridge with the full well-covered economic feature set: MAE about 3.708 medals versus about 6.781 for predicting the training mean every time. GDP and population still matter, but differences within similar country groups motivate our efficiency metrics and the rest of the semester.</a:t>
            </a:r>
          </a:p>
          <a:p/>
          <a:p>
            <a:r>
              <a:t>Thank Ahmad, Ethan, the class, and the instructor. Open the floor for questions.</a:t>
            </a:r>
          </a:p>
          <a:p/>
          <a:p>
            <a:r>
              <a:t>---</a:t>
            </a:r>
          </a:p>
          <a:p/>
          <a:p>
            <a:r>
              <a:t>Q&amp;A — likely questions and how to answer:</a:t>
            </a:r>
          </a:p>
          <a:p/>
          <a:p>
            <a:r>
              <a:t>Q: Why focus on 2016?</a:t>
            </a:r>
          </a:p>
          <a:p>
            <a:r>
              <a:t>A: Rio is a clean snapshot where we have strong overlap between Olympic outcomes and WDI indicators, a full medal table, and enough countries for a 75/25 train-test split (about 201 countries in the modeling table, 51 held out). We will add multi-year train/test before the final.</a:t>
            </a:r>
          </a:p>
          <a:p/>
          <a:p>
            <a:r>
              <a:t>Q: Where does the data come from and why trust it?</a:t>
            </a:r>
          </a:p>
          <a:p>
            <a:r>
              <a:t>A: Medals from Olympedia-style Olympic history; economics from the World Bank World Development Indicators, scraped and merged on country code and year into olympic_economics.csv on GitHub. WDI is standard for cross-country research; we drop very low-coverage indicators and document missingness in the notebook.</a:t>
            </a:r>
          </a:p>
          <a:p/>
          <a:p>
            <a:r>
              <a:t>Q: What is the null baseline again?</a:t>
            </a:r>
          </a:p>
          <a:p>
            <a:r>
              <a:t>A: For regression, predict every test country gets the training-set average medal count. R-squared near zero and MAE about 6.8 on our slide. Real models must beat that.</a:t>
            </a:r>
          </a:p>
          <a:p/>
          <a:p>
            <a:r>
              <a:t>Q: Why did Ridge beat random forest and XGBoost on your slide?</a:t>
            </a:r>
          </a:p>
          <a:p>
            <a:r>
              <a:t>A: One Olympic year, correlated features, and a single random split favor stable linear models. Trees can overfit with only ~150 training countries. We are tuning ensembles and using more years for the final.</a:t>
            </a:r>
          </a:p>
          <a:p/>
          <a:p>
            <a:r>
              <a:t>Q: Why not use accuracy?</a:t>
            </a:r>
          </a:p>
          <a:p>
            <a:r>
              <a:t>A: Medal totals are skewed; many countries have zero. Accuracy hides errors on high-medal nations. We use MAE and R-squared for counts and F1 for the any-medal classification task.</a:t>
            </a:r>
          </a:p>
          <a:p/>
          <a:p>
            <a:r>
              <a:t>Q: Did you predict whether a country wins any medal?</a:t>
            </a:r>
          </a:p>
          <a:p>
            <a:r>
              <a:t>A: Yes in the notebook: logistic regression with balanced classes, about 0.90 accuracy and 0.87 F1 on the same split, much better than always predicting no medal.</a:t>
            </a:r>
          </a:p>
          <a:p/>
          <a:p>
            <a:r>
              <a:t>Q: How are country groups defined?</a:t>
            </a:r>
          </a:p>
          <a:p>
            <a:r>
              <a:t>A: From 2016 GDP per capita and population bins (see notebook Sections 14–18). Groups help EDA and missing-data structure; they do not fully replace GDP and population in prediction.</a:t>
            </a:r>
          </a:p>
          <a:p/>
          <a:p>
            <a:r>
              <a:t>Q: Does this prove spending on sports causes medals?</a:t>
            </a:r>
          </a:p>
          <a:p>
            <a:r>
              <a:t>A: No. These are associations and predictions. Policy claims need causal designs we are not claiming at midterm.</a:t>
            </a:r>
          </a:p>
          <a:p/>
          <a:p>
            <a:r>
              <a:t>Q: What about host-nation effects or past medal history?</a:t>
            </a:r>
          </a:p>
          <a:p>
            <a:r>
              <a:t>A: Important in literature; not our main midterm models. Planned as features or validation checks before the final.</a:t>
            </a:r>
          </a:p>
          <a:p/>
          <a:p>
            <a:r>
              <a:t>Q: Missing data for poor countries?</a:t>
            </a:r>
          </a:p>
          <a:p>
            <a:r>
              <a:t>A: Major limitation. We require 80% indicator coverage among modeling countries and use median imputation, which can under-represent low-income nations Olympic Solidarity cares about.</a:t>
            </a:r>
          </a:p>
          <a:p/>
          <a:p>
            <a:r>
              <a:t>Q: Who are the stakeholders?</a:t>
            </a:r>
          </a:p>
          <a:p>
            <a:r>
              <a:t>A: NOCs, sports ministries, IOC Solidarity, media, and athletes in developing nations needing evidence for funding, per our proposal.</a:t>
            </a:r>
          </a:p>
          <a:p/>
          <a:p>
            <a:r>
              <a:t>Q: What is next before the final?</a:t>
            </a:r>
          </a:p>
          <a:p>
            <a:r>
              <a:t>A: Multi-year validation, LightGBM and hyperparameter tuning, PCA/clustering, medals-per-GDP and over/under-performance rankings, error analysis by income group.</a:t>
            </a:r>
          </a:p>
          <a:p/>
          <a:p>
            <a:r>
              <a:t>Q: Where is the code?</a:t>
            </a:r>
          </a:p>
          <a:p>
            <a:r>
              <a:t>A: GitHub ahmadmashhood01/IST.707-PROJECT — notebooks olympic_economics_split_models.ipynb and related team notebooks; MIDTERM_REPORT.md on the repo.</a:t>
            </a:r>
          </a:p>
          <a:p/>
          <a:p>
            <a:r>
              <a:t>If you do not know: say which notebook section or report section you will verify after class; do not invent numbers.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274320"/>
            <a:ext cx="10058400" cy="274320"/>
          </a:xfrm>
          <a:prstGeom prst="rect">
            <a:avLst/>
          </a:prstGeom>
          <a:noFill/>
        </p:spPr>
        <p:txBody>
          <a:bodyPr wrap="square">
            <a:spAutoFit/>
          </a:bodyPr>
          <a:lstStyle/>
          <a:p>
            <a:pPr>
              <a:spcAft>
                <a:spcPts val="800"/>
              </a:spcAft>
              <a:defRPr sz="1200" b="1">
                <a:solidFill>
                  <a:srgbClr val="2667DA"/>
                </a:solidFill>
              </a:defRPr>
            </a:pPr>
            <a:r>
              <a:t>MODEL EVALUATION</a:t>
            </a:r>
          </a:p>
        </p:txBody>
      </p:sp>
      <p:sp>
        <p:nvSpPr>
          <p:cNvPr id="3" name="TextBox 2"/>
          <p:cNvSpPr txBox="1"/>
          <p:nvPr/>
        </p:nvSpPr>
        <p:spPr>
          <a:xfrm>
            <a:off x="594360" y="685800"/>
            <a:ext cx="10972800" cy="640080"/>
          </a:xfrm>
          <a:prstGeom prst="rect">
            <a:avLst/>
          </a:prstGeom>
          <a:noFill/>
        </p:spPr>
        <p:txBody>
          <a:bodyPr wrap="square">
            <a:spAutoFit/>
          </a:bodyPr>
          <a:lstStyle/>
          <a:p>
            <a:pPr>
              <a:spcAft>
                <a:spcPts val="800"/>
              </a:spcAft>
              <a:defRPr sz="2900" b="1">
                <a:solidFill>
                  <a:srgbClr val="12203A"/>
                </a:solidFill>
              </a:defRPr>
            </a:pPr>
            <a:r>
              <a:t>What does a null baseline predict?</a:t>
            </a:r>
          </a:p>
        </p:txBody>
      </p:sp>
      <p:sp>
        <p:nvSpPr>
          <p:cNvPr id="4" name="Rectangle 3"/>
          <p:cNvSpPr/>
          <p:nvPr/>
        </p:nvSpPr>
        <p:spPr>
          <a:xfrm>
            <a:off x="594360" y="1444752"/>
            <a:ext cx="10972800" cy="32004"/>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1737360"/>
            <a:ext cx="4937760" cy="3200400"/>
          </a:xfrm>
          <a:prstGeom prst="roundRect">
            <a:avLst/>
          </a:prstGeom>
          <a:solidFill>
            <a:srgbClr val="E7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0392" y="1901952"/>
            <a:ext cx="4517136" cy="384048"/>
          </a:xfrm>
          <a:prstGeom prst="rect">
            <a:avLst/>
          </a:prstGeom>
          <a:noFill/>
        </p:spPr>
        <p:txBody>
          <a:bodyPr wrap="square">
            <a:spAutoFit/>
          </a:bodyPr>
          <a:lstStyle/>
          <a:p>
            <a:pPr>
              <a:spcAft>
                <a:spcPts val="800"/>
              </a:spcAft>
              <a:defRPr sz="1900" b="1">
                <a:solidFill>
                  <a:srgbClr val="12203A"/>
                </a:solidFill>
              </a:defRPr>
            </a:pPr>
            <a:r>
              <a:t>Null model</a:t>
            </a:r>
          </a:p>
        </p:txBody>
      </p:sp>
      <p:sp>
        <p:nvSpPr>
          <p:cNvPr id="7" name="TextBox 6"/>
          <p:cNvSpPr txBox="1"/>
          <p:nvPr/>
        </p:nvSpPr>
        <p:spPr>
          <a:xfrm>
            <a:off x="850392" y="2395728"/>
            <a:ext cx="4517136" cy="2323713"/>
          </a:xfrm>
          <a:prstGeom prst="rect">
            <a:avLst/>
          </a:prstGeom>
          <a:noFill/>
        </p:spPr>
        <p:txBody>
          <a:bodyPr wrap="square" lIns="38100" tIns="25400" rIns="38100" bIns="25400">
            <a:spAutoFit/>
          </a:bodyPr>
          <a:lstStyle/>
          <a:p>
            <a:pPr>
              <a:spcAft>
                <a:spcPts val="700"/>
              </a:spcAft>
            </a:pPr>
            <a:r>
              <a:rPr sz="1700" dirty="0">
                <a:latin typeface="Aptos"/>
              </a:rPr>
              <a:t>The null model predicts the mean</a:t>
            </a:r>
            <a:r>
              <a:rPr lang="en-US" sz="1700" dirty="0">
                <a:latin typeface="Aptos"/>
              </a:rPr>
              <a:t> of the training sets</a:t>
            </a:r>
            <a:r>
              <a:rPr sz="1700" dirty="0">
                <a:latin typeface="Aptos"/>
              </a:rPr>
              <a:t> medal count for every country, regardless of its population, wealth</a:t>
            </a:r>
            <a:r>
              <a:rPr lang="en-US" sz="1700" dirty="0">
                <a:latin typeface="Aptos"/>
              </a:rPr>
              <a:t> (GDP)</a:t>
            </a:r>
            <a:r>
              <a:rPr sz="1700" dirty="0">
                <a:latin typeface="Aptos"/>
              </a:rPr>
              <a:t>, athlete participation</a:t>
            </a:r>
            <a:r>
              <a:rPr lang="en-US" sz="1700" dirty="0">
                <a:latin typeface="Aptos"/>
              </a:rPr>
              <a:t>, health expenditure, etc.</a:t>
            </a:r>
            <a:endParaRPr sz="1700" dirty="0">
              <a:latin typeface="Aptos"/>
            </a:endParaRPr>
          </a:p>
          <a:p>
            <a:pPr>
              <a:spcAft>
                <a:spcPts val="700"/>
              </a:spcAft>
            </a:pPr>
            <a:endParaRPr sz="1700" dirty="0">
              <a:latin typeface="Aptos"/>
            </a:endParaRPr>
          </a:p>
          <a:p>
            <a:pPr>
              <a:spcAft>
                <a:spcPts val="700"/>
              </a:spcAft>
            </a:pPr>
            <a:r>
              <a:rPr lang="en-US" sz="1700" dirty="0">
                <a:latin typeface="Aptos"/>
              </a:rPr>
              <a:t>The null model provide </a:t>
            </a:r>
            <a:r>
              <a:rPr sz="1700" dirty="0">
                <a:latin typeface="Aptos"/>
              </a:rPr>
              <a:t>a reference for judging whether economic predictors add value</a:t>
            </a:r>
            <a:r>
              <a:rPr lang="en-US" sz="1700" dirty="0">
                <a:latin typeface="Aptos"/>
              </a:rPr>
              <a:t> to the test model.</a:t>
            </a:r>
            <a:endParaRPr sz="1700" dirty="0">
              <a:latin typeface="Aptos"/>
            </a:endParaRPr>
          </a:p>
        </p:txBody>
      </p:sp>
      <p:sp>
        <p:nvSpPr>
          <p:cNvPr id="8" name="Rounded Rectangle 7"/>
          <p:cNvSpPr/>
          <p:nvPr/>
        </p:nvSpPr>
        <p:spPr>
          <a:xfrm>
            <a:off x="5760720" y="1737360"/>
            <a:ext cx="5669280" cy="3200400"/>
          </a:xfrm>
          <a:prstGeom prst="roundRect">
            <a:avLst/>
          </a:prstGeom>
          <a:solidFill>
            <a:srgbClr val="E7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71032" y="1901952"/>
            <a:ext cx="5248656" cy="384048"/>
          </a:xfrm>
          <a:prstGeom prst="rect">
            <a:avLst/>
          </a:prstGeom>
          <a:noFill/>
        </p:spPr>
        <p:txBody>
          <a:bodyPr wrap="square">
            <a:spAutoFit/>
          </a:bodyPr>
          <a:lstStyle/>
          <a:p>
            <a:pPr>
              <a:spcAft>
                <a:spcPts val="800"/>
              </a:spcAft>
              <a:defRPr sz="1900" b="1">
                <a:solidFill>
                  <a:srgbClr val="12203A"/>
                </a:solidFill>
              </a:defRPr>
            </a:pPr>
            <a:r>
              <a:t>Why it matters</a:t>
            </a:r>
          </a:p>
        </p:txBody>
      </p:sp>
      <p:sp>
        <p:nvSpPr>
          <p:cNvPr id="10" name="TextBox 9"/>
          <p:cNvSpPr txBox="1"/>
          <p:nvPr/>
        </p:nvSpPr>
        <p:spPr>
          <a:xfrm>
            <a:off x="5971032" y="2395728"/>
            <a:ext cx="5248656" cy="1800493"/>
          </a:xfrm>
          <a:prstGeom prst="rect">
            <a:avLst/>
          </a:prstGeom>
          <a:noFill/>
        </p:spPr>
        <p:txBody>
          <a:bodyPr wrap="square" lIns="38100" tIns="25400" rIns="38100" bIns="25400">
            <a:spAutoFit/>
          </a:bodyPr>
          <a:lstStyle/>
          <a:p>
            <a:pPr>
              <a:spcAft>
                <a:spcPts val="700"/>
              </a:spcAft>
            </a:pPr>
            <a:r>
              <a:rPr sz="1700" dirty="0">
                <a:latin typeface="Aptos"/>
              </a:rPr>
              <a:t>We evaluate all models on countries</a:t>
            </a:r>
            <a:r>
              <a:rPr lang="en-US" sz="1700" dirty="0">
                <a:latin typeface="Aptos"/>
              </a:rPr>
              <a:t> withing the groups and without the groups</a:t>
            </a:r>
            <a:r>
              <a:rPr sz="1700" dirty="0">
                <a:latin typeface="Aptos"/>
              </a:rPr>
              <a:t> using the same test</a:t>
            </a:r>
            <a:r>
              <a:rPr lang="en-US" sz="1700" dirty="0">
                <a:latin typeface="Aptos"/>
              </a:rPr>
              <a:t>-</a:t>
            </a:r>
            <a:r>
              <a:rPr sz="1700" dirty="0">
                <a:latin typeface="Aptos"/>
              </a:rPr>
              <a:t>split.</a:t>
            </a:r>
          </a:p>
          <a:p>
            <a:pPr>
              <a:spcAft>
                <a:spcPts val="700"/>
              </a:spcAft>
            </a:pPr>
            <a:endParaRPr sz="1700" dirty="0">
              <a:latin typeface="Aptos"/>
            </a:endParaRPr>
          </a:p>
          <a:p>
            <a:pPr>
              <a:spcAft>
                <a:spcPts val="700"/>
              </a:spcAft>
            </a:pPr>
            <a:r>
              <a:rPr sz="1700" dirty="0">
                <a:latin typeface="Aptos"/>
              </a:rPr>
              <a:t>MAE measures the average absolute difference between predicted and actual medals; R² measures improvement in explaining variation.</a:t>
            </a:r>
          </a:p>
        </p:txBody>
      </p:sp>
      <p:sp>
        <p:nvSpPr>
          <p:cNvPr id="11" name="TextBox 10"/>
          <p:cNvSpPr txBox="1"/>
          <p:nvPr/>
        </p:nvSpPr>
        <p:spPr>
          <a:xfrm>
            <a:off x="640080" y="5198364"/>
            <a:ext cx="10789920" cy="1451679"/>
          </a:xfrm>
          <a:prstGeom prst="rect">
            <a:avLst/>
          </a:prstGeom>
          <a:noFill/>
        </p:spPr>
        <p:txBody>
          <a:bodyPr wrap="square">
            <a:spAutoFit/>
          </a:bodyPr>
          <a:lstStyle/>
          <a:p>
            <a:pPr>
              <a:spcAft>
                <a:spcPts val="800"/>
              </a:spcAft>
              <a:defRPr sz="2500" b="1">
                <a:solidFill>
                  <a:srgbClr val="2667DA"/>
                </a:solidFill>
              </a:defRPr>
            </a:pPr>
            <a:r>
              <a:rPr dirty="0"/>
              <a:t>Null baseline MAE: 6.781 medals    |    R²: −0.004</a:t>
            </a:r>
            <a:endParaRPr lang="en-US" dirty="0"/>
          </a:p>
          <a:p>
            <a:pPr>
              <a:spcAft>
                <a:spcPts val="800"/>
              </a:spcAft>
              <a:defRPr sz="2500" b="1">
                <a:solidFill>
                  <a:srgbClr val="2667DA"/>
                </a:solidFill>
              </a:defRPr>
            </a:pPr>
            <a:r>
              <a:rPr lang="en-US" dirty="0"/>
              <a:t>Null baseline with Groups MAE:  8.538    |   R²: -0.004</a:t>
            </a:r>
          </a:p>
          <a:p>
            <a:pPr>
              <a:spcAft>
                <a:spcPts val="800"/>
              </a:spcAft>
              <a:defRPr sz="2500" b="1">
                <a:solidFill>
                  <a:srgbClr val="2667DA"/>
                </a:solidFill>
              </a:defRPr>
            </a:pP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274320"/>
            <a:ext cx="10058400" cy="274320"/>
          </a:xfrm>
          <a:prstGeom prst="rect">
            <a:avLst/>
          </a:prstGeom>
          <a:noFill/>
        </p:spPr>
        <p:txBody>
          <a:bodyPr wrap="square">
            <a:spAutoFit/>
          </a:bodyPr>
          <a:lstStyle/>
          <a:p>
            <a:pPr>
              <a:spcAft>
                <a:spcPts val="800"/>
              </a:spcAft>
              <a:defRPr sz="1200" b="1">
                <a:solidFill>
                  <a:srgbClr val="2667DA"/>
                </a:solidFill>
              </a:defRPr>
            </a:pPr>
            <a:r>
              <a:t>MODEL EVALUATION</a:t>
            </a:r>
          </a:p>
        </p:txBody>
      </p:sp>
      <p:sp>
        <p:nvSpPr>
          <p:cNvPr id="3" name="TextBox 2"/>
          <p:cNvSpPr txBox="1"/>
          <p:nvPr/>
        </p:nvSpPr>
        <p:spPr>
          <a:xfrm>
            <a:off x="594360" y="685800"/>
            <a:ext cx="10972800" cy="538609"/>
          </a:xfrm>
          <a:prstGeom prst="rect">
            <a:avLst/>
          </a:prstGeom>
          <a:noFill/>
        </p:spPr>
        <p:txBody>
          <a:bodyPr wrap="square">
            <a:spAutoFit/>
          </a:bodyPr>
          <a:lstStyle/>
          <a:p>
            <a:pPr>
              <a:spcAft>
                <a:spcPts val="800"/>
              </a:spcAft>
              <a:defRPr sz="2900" b="1">
                <a:solidFill>
                  <a:srgbClr val="12203A"/>
                </a:solidFill>
              </a:defRPr>
            </a:pPr>
            <a:r>
              <a:rPr lang="en-US" dirty="0"/>
              <a:t>Adding </a:t>
            </a:r>
            <a:r>
              <a:rPr dirty="0"/>
              <a:t>Economic </a:t>
            </a:r>
            <a:r>
              <a:rPr lang="en-US" dirty="0"/>
              <a:t>P</a:t>
            </a:r>
            <a:r>
              <a:rPr dirty="0"/>
              <a:t>redictors </a:t>
            </a:r>
            <a:r>
              <a:rPr lang="en-US" dirty="0"/>
              <a:t>Helps Improve on the Null Baseline</a:t>
            </a:r>
            <a:endParaRPr dirty="0"/>
          </a:p>
        </p:txBody>
      </p:sp>
      <p:sp>
        <p:nvSpPr>
          <p:cNvPr id="4" name="Rectangle 3"/>
          <p:cNvSpPr/>
          <p:nvPr/>
        </p:nvSpPr>
        <p:spPr>
          <a:xfrm>
            <a:off x="594360" y="1444752"/>
            <a:ext cx="10972800" cy="32004"/>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920240"/>
            <a:ext cx="2926080" cy="411480"/>
          </a:xfrm>
          <a:prstGeom prst="rect">
            <a:avLst/>
          </a:prstGeom>
          <a:noFill/>
        </p:spPr>
        <p:txBody>
          <a:bodyPr wrap="square">
            <a:spAutoFit/>
          </a:bodyPr>
          <a:lstStyle/>
          <a:p>
            <a:pPr>
              <a:spcAft>
                <a:spcPts val="800"/>
              </a:spcAft>
              <a:defRPr sz="1900" b="1">
                <a:solidFill>
                  <a:srgbClr val="12203A"/>
                </a:solidFill>
              </a:defRPr>
            </a:pPr>
            <a:r>
              <a:rPr dirty="0"/>
              <a:t>Null baseline</a:t>
            </a:r>
          </a:p>
        </p:txBody>
      </p:sp>
      <p:sp>
        <p:nvSpPr>
          <p:cNvPr id="6" name="Rectangle 5"/>
          <p:cNvSpPr/>
          <p:nvPr/>
        </p:nvSpPr>
        <p:spPr>
          <a:xfrm>
            <a:off x="3657600" y="1920240"/>
            <a:ext cx="5642497" cy="438912"/>
          </a:xfrm>
          <a:prstGeom prst="rect">
            <a:avLst/>
          </a:prstGeom>
          <a:solidFill>
            <a:srgbClr val="83A4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482977" y="1920240"/>
            <a:ext cx="1371600" cy="457200"/>
          </a:xfrm>
          <a:prstGeom prst="rect">
            <a:avLst/>
          </a:prstGeom>
          <a:noFill/>
        </p:spPr>
        <p:txBody>
          <a:bodyPr wrap="square">
            <a:spAutoFit/>
          </a:bodyPr>
          <a:lstStyle/>
          <a:p>
            <a:pPr>
              <a:spcAft>
                <a:spcPts val="800"/>
              </a:spcAft>
              <a:defRPr sz="1800" b="1">
                <a:solidFill>
                  <a:srgbClr val="12203A"/>
                </a:solidFill>
              </a:defRPr>
            </a:pPr>
            <a:r>
              <a:t>6.781</a:t>
            </a:r>
          </a:p>
        </p:txBody>
      </p:sp>
      <p:sp>
        <p:nvSpPr>
          <p:cNvPr id="8" name="TextBox 7"/>
          <p:cNvSpPr txBox="1"/>
          <p:nvPr/>
        </p:nvSpPr>
        <p:spPr>
          <a:xfrm>
            <a:off x="731520" y="2971800"/>
            <a:ext cx="2926080" cy="411480"/>
          </a:xfrm>
          <a:prstGeom prst="rect">
            <a:avLst/>
          </a:prstGeom>
          <a:noFill/>
        </p:spPr>
        <p:txBody>
          <a:bodyPr wrap="square">
            <a:spAutoFit/>
          </a:bodyPr>
          <a:lstStyle/>
          <a:p>
            <a:pPr>
              <a:spcAft>
                <a:spcPts val="800"/>
              </a:spcAft>
              <a:defRPr sz="1900" b="1">
                <a:solidFill>
                  <a:srgbClr val="12203A"/>
                </a:solidFill>
              </a:defRPr>
            </a:pPr>
            <a:r>
              <a:rPr dirty="0"/>
              <a:t>Ridge: all factors</a:t>
            </a:r>
          </a:p>
        </p:txBody>
      </p:sp>
      <p:sp>
        <p:nvSpPr>
          <p:cNvPr id="9" name="Rectangle 8"/>
          <p:cNvSpPr/>
          <p:nvPr/>
        </p:nvSpPr>
        <p:spPr>
          <a:xfrm>
            <a:off x="3657600" y="2971800"/>
            <a:ext cx="3085441" cy="438912"/>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925921" y="2971800"/>
            <a:ext cx="1371600" cy="457200"/>
          </a:xfrm>
          <a:prstGeom prst="rect">
            <a:avLst/>
          </a:prstGeom>
          <a:noFill/>
        </p:spPr>
        <p:txBody>
          <a:bodyPr wrap="square">
            <a:spAutoFit/>
          </a:bodyPr>
          <a:lstStyle/>
          <a:p>
            <a:pPr>
              <a:spcAft>
                <a:spcPts val="800"/>
              </a:spcAft>
              <a:defRPr sz="1800" b="1">
                <a:solidFill>
                  <a:srgbClr val="12203A"/>
                </a:solidFill>
              </a:defRPr>
            </a:pPr>
            <a:r>
              <a:t>3.708</a:t>
            </a:r>
          </a:p>
        </p:txBody>
      </p:sp>
      <p:sp>
        <p:nvSpPr>
          <p:cNvPr id="11" name="TextBox 10"/>
          <p:cNvSpPr txBox="1"/>
          <p:nvPr/>
        </p:nvSpPr>
        <p:spPr>
          <a:xfrm>
            <a:off x="731520" y="4791456"/>
            <a:ext cx="2926080" cy="411480"/>
          </a:xfrm>
          <a:prstGeom prst="rect">
            <a:avLst/>
          </a:prstGeom>
          <a:noFill/>
        </p:spPr>
        <p:txBody>
          <a:bodyPr wrap="square">
            <a:spAutoFit/>
          </a:bodyPr>
          <a:lstStyle/>
          <a:p>
            <a:pPr>
              <a:spcAft>
                <a:spcPts val="800"/>
              </a:spcAft>
              <a:defRPr sz="1900" b="1">
                <a:solidFill>
                  <a:srgbClr val="12203A"/>
                </a:solidFill>
              </a:defRPr>
            </a:pPr>
            <a:r>
              <a:rPr dirty="0"/>
              <a:t>Ridge: grouped</a:t>
            </a:r>
          </a:p>
        </p:txBody>
      </p:sp>
      <p:sp>
        <p:nvSpPr>
          <p:cNvPr id="12" name="Rectangle 11"/>
          <p:cNvSpPr/>
          <p:nvPr/>
        </p:nvSpPr>
        <p:spPr>
          <a:xfrm>
            <a:off x="3637287" y="3848011"/>
            <a:ext cx="6531490" cy="438912"/>
          </a:xfrm>
          <a:prstGeom prst="rect">
            <a:avLst/>
          </a:prstGeom>
          <a:solidFill>
            <a:srgbClr val="83A4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928497" y="4822573"/>
            <a:ext cx="1371600" cy="457200"/>
          </a:xfrm>
          <a:prstGeom prst="rect">
            <a:avLst/>
          </a:prstGeom>
          <a:noFill/>
        </p:spPr>
        <p:txBody>
          <a:bodyPr wrap="square">
            <a:spAutoFit/>
          </a:bodyPr>
          <a:lstStyle/>
          <a:p>
            <a:pPr>
              <a:spcAft>
                <a:spcPts val="800"/>
              </a:spcAft>
              <a:defRPr sz="1800" b="1">
                <a:solidFill>
                  <a:srgbClr val="12203A"/>
                </a:solidFill>
              </a:defRPr>
            </a:pPr>
            <a:r>
              <a:rPr dirty="0"/>
              <a:t>5.873</a:t>
            </a:r>
          </a:p>
        </p:txBody>
      </p:sp>
      <p:sp>
        <p:nvSpPr>
          <p:cNvPr id="14" name="TextBox 13"/>
          <p:cNvSpPr txBox="1"/>
          <p:nvPr/>
        </p:nvSpPr>
        <p:spPr>
          <a:xfrm>
            <a:off x="731520" y="5532120"/>
            <a:ext cx="10698480" cy="594360"/>
          </a:xfrm>
          <a:prstGeom prst="rect">
            <a:avLst/>
          </a:prstGeom>
          <a:noFill/>
        </p:spPr>
        <p:txBody>
          <a:bodyPr wrap="square" lIns="38100" tIns="25400" rIns="38100" bIns="25400">
            <a:spAutoFit/>
          </a:bodyPr>
          <a:lstStyle/>
          <a:p>
            <a:pPr>
              <a:spcAft>
                <a:spcPts val="700"/>
              </a:spcAft>
            </a:pPr>
            <a:r>
              <a:rPr sz="1700" dirty="0">
                <a:latin typeface="Aptos"/>
              </a:rPr>
              <a:t>Ridge using all economic factors lowers the average prediction error from 6.781 to 3.708 medals—a 45.3% reduction. The grouped model </a:t>
            </a:r>
            <a:r>
              <a:rPr lang="en-US" sz="1700" dirty="0">
                <a:latin typeface="Aptos"/>
              </a:rPr>
              <a:t>also improves from the baseline model.</a:t>
            </a:r>
            <a:endParaRPr sz="1700" dirty="0">
              <a:latin typeface="Aptos"/>
            </a:endParaRPr>
          </a:p>
        </p:txBody>
      </p:sp>
      <p:sp>
        <p:nvSpPr>
          <p:cNvPr id="15" name="TextBox 14">
            <a:extLst>
              <a:ext uri="{FF2B5EF4-FFF2-40B4-BE49-F238E27FC236}">
                <a16:creationId xmlns:a16="http://schemas.microsoft.com/office/drawing/2014/main" id="{EBA4AD85-CA94-F82E-F32E-0BEDFB232C89}"/>
              </a:ext>
            </a:extLst>
          </p:cNvPr>
          <p:cNvSpPr txBox="1"/>
          <p:nvPr/>
        </p:nvSpPr>
        <p:spPr>
          <a:xfrm>
            <a:off x="731520" y="3902202"/>
            <a:ext cx="2926080" cy="384721"/>
          </a:xfrm>
          <a:prstGeom prst="rect">
            <a:avLst/>
          </a:prstGeom>
          <a:noFill/>
        </p:spPr>
        <p:txBody>
          <a:bodyPr wrap="square">
            <a:spAutoFit/>
          </a:bodyPr>
          <a:lstStyle/>
          <a:p>
            <a:pPr>
              <a:spcAft>
                <a:spcPts val="800"/>
              </a:spcAft>
              <a:defRPr sz="1900" b="1">
                <a:solidFill>
                  <a:srgbClr val="12203A"/>
                </a:solidFill>
              </a:defRPr>
            </a:pPr>
            <a:r>
              <a:rPr dirty="0"/>
              <a:t>Null baseline</a:t>
            </a:r>
            <a:r>
              <a:rPr lang="en-US" dirty="0"/>
              <a:t>: Grouped</a:t>
            </a:r>
            <a:endParaRPr dirty="0"/>
          </a:p>
        </p:txBody>
      </p:sp>
      <p:sp>
        <p:nvSpPr>
          <p:cNvPr id="16" name="Rectangle 15">
            <a:extLst>
              <a:ext uri="{FF2B5EF4-FFF2-40B4-BE49-F238E27FC236}">
                <a16:creationId xmlns:a16="http://schemas.microsoft.com/office/drawing/2014/main" id="{B7E73CDB-9F07-D8C1-2474-07F91E9B1BC3}"/>
              </a:ext>
            </a:extLst>
          </p:cNvPr>
          <p:cNvSpPr/>
          <p:nvPr/>
        </p:nvSpPr>
        <p:spPr>
          <a:xfrm>
            <a:off x="3637287" y="4786884"/>
            <a:ext cx="4122756" cy="438912"/>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15555ADE-E5E9-7A64-8548-8EF8A3E8B891}"/>
              </a:ext>
            </a:extLst>
          </p:cNvPr>
          <p:cNvSpPr txBox="1"/>
          <p:nvPr/>
        </p:nvSpPr>
        <p:spPr>
          <a:xfrm>
            <a:off x="10317470" y="3865962"/>
            <a:ext cx="1371600" cy="369332"/>
          </a:xfrm>
          <a:prstGeom prst="rect">
            <a:avLst/>
          </a:prstGeom>
          <a:noFill/>
        </p:spPr>
        <p:txBody>
          <a:bodyPr wrap="square">
            <a:spAutoFit/>
          </a:bodyPr>
          <a:lstStyle/>
          <a:p>
            <a:pPr>
              <a:spcAft>
                <a:spcPts val="800"/>
              </a:spcAft>
              <a:defRPr sz="1800" b="1">
                <a:solidFill>
                  <a:srgbClr val="12203A"/>
                </a:solidFill>
              </a:defRPr>
            </a:pPr>
            <a:r>
              <a:rPr lang="en-US" dirty="0"/>
              <a:t>8.538</a:t>
            </a:r>
            <a:endParaRPr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274320"/>
            <a:ext cx="10058400" cy="274320"/>
          </a:xfrm>
          <a:prstGeom prst="rect">
            <a:avLst/>
          </a:prstGeom>
          <a:noFill/>
        </p:spPr>
        <p:txBody>
          <a:bodyPr wrap="square">
            <a:spAutoFit/>
          </a:bodyPr>
          <a:lstStyle/>
          <a:p>
            <a:pPr>
              <a:spcAft>
                <a:spcPts val="800"/>
              </a:spcAft>
              <a:defRPr sz="1200" b="1">
                <a:solidFill>
                  <a:srgbClr val="2667DA"/>
                </a:solidFill>
              </a:defRPr>
            </a:pPr>
            <a:r>
              <a:t>MODEL EVALUATION</a:t>
            </a:r>
          </a:p>
        </p:txBody>
      </p:sp>
      <p:sp>
        <p:nvSpPr>
          <p:cNvPr id="3" name="TextBox 2"/>
          <p:cNvSpPr txBox="1"/>
          <p:nvPr/>
        </p:nvSpPr>
        <p:spPr>
          <a:xfrm>
            <a:off x="594360" y="685800"/>
            <a:ext cx="10972800" cy="538609"/>
          </a:xfrm>
          <a:prstGeom prst="rect">
            <a:avLst/>
          </a:prstGeom>
          <a:noFill/>
        </p:spPr>
        <p:txBody>
          <a:bodyPr wrap="square">
            <a:spAutoFit/>
          </a:bodyPr>
          <a:lstStyle/>
          <a:p>
            <a:pPr>
              <a:spcAft>
                <a:spcPts val="800"/>
              </a:spcAft>
              <a:defRPr sz="2900" b="1">
                <a:solidFill>
                  <a:srgbClr val="12203A"/>
                </a:solidFill>
              </a:defRPr>
            </a:pPr>
            <a:r>
              <a:rPr dirty="0"/>
              <a:t>Comparing our </a:t>
            </a:r>
            <a:r>
              <a:rPr lang="en-US" dirty="0"/>
              <a:t>R</a:t>
            </a:r>
            <a:r>
              <a:rPr dirty="0"/>
              <a:t>egression </a:t>
            </a:r>
            <a:r>
              <a:rPr lang="en-US" dirty="0"/>
              <a:t>M</a:t>
            </a:r>
            <a:r>
              <a:rPr dirty="0"/>
              <a:t>odels</a:t>
            </a:r>
          </a:p>
        </p:txBody>
      </p:sp>
      <p:sp>
        <p:nvSpPr>
          <p:cNvPr id="4" name="Rectangle 3"/>
          <p:cNvSpPr/>
          <p:nvPr/>
        </p:nvSpPr>
        <p:spPr>
          <a:xfrm>
            <a:off x="594360" y="1444752"/>
            <a:ext cx="10972800" cy="32004"/>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10512"/>
            <a:ext cx="6400800" cy="365760"/>
          </a:xfrm>
          <a:prstGeom prst="rect">
            <a:avLst/>
          </a:prstGeom>
          <a:noFill/>
        </p:spPr>
        <p:txBody>
          <a:bodyPr wrap="square">
            <a:spAutoFit/>
          </a:bodyPr>
          <a:lstStyle/>
          <a:p>
            <a:pPr>
              <a:spcAft>
                <a:spcPts val="800"/>
              </a:spcAft>
              <a:defRPr sz="1700" b="0">
                <a:solidFill>
                  <a:srgbClr val="12203A"/>
                </a:solidFill>
              </a:defRPr>
            </a:pPr>
            <a:r>
              <a:t>Null mean</a:t>
            </a:r>
          </a:p>
        </p:txBody>
      </p:sp>
      <p:sp>
        <p:nvSpPr>
          <p:cNvPr id="7" name="TextBox 6"/>
          <p:cNvSpPr txBox="1"/>
          <p:nvPr/>
        </p:nvSpPr>
        <p:spPr>
          <a:xfrm>
            <a:off x="7818120" y="1810512"/>
            <a:ext cx="1463040" cy="365760"/>
          </a:xfrm>
          <a:prstGeom prst="rect">
            <a:avLst/>
          </a:prstGeom>
          <a:noFill/>
        </p:spPr>
        <p:txBody>
          <a:bodyPr wrap="square">
            <a:spAutoFit/>
          </a:bodyPr>
          <a:lstStyle/>
          <a:p>
            <a:pPr>
              <a:spcAft>
                <a:spcPts val="800"/>
              </a:spcAft>
              <a:defRPr sz="1700" b="0">
                <a:solidFill>
                  <a:srgbClr val="12203A"/>
                </a:solidFill>
              </a:defRPr>
            </a:pPr>
            <a:r>
              <a:t>-0.004</a:t>
            </a:r>
          </a:p>
        </p:txBody>
      </p:sp>
      <p:sp>
        <p:nvSpPr>
          <p:cNvPr id="8" name="TextBox 7"/>
          <p:cNvSpPr txBox="1"/>
          <p:nvPr/>
        </p:nvSpPr>
        <p:spPr>
          <a:xfrm>
            <a:off x="9921240" y="1810512"/>
            <a:ext cx="1371600" cy="365760"/>
          </a:xfrm>
          <a:prstGeom prst="rect">
            <a:avLst/>
          </a:prstGeom>
          <a:noFill/>
        </p:spPr>
        <p:txBody>
          <a:bodyPr wrap="square">
            <a:spAutoFit/>
          </a:bodyPr>
          <a:lstStyle/>
          <a:p>
            <a:pPr>
              <a:spcAft>
                <a:spcPts val="800"/>
              </a:spcAft>
              <a:defRPr sz="1700" b="0">
                <a:solidFill>
                  <a:srgbClr val="12203A"/>
                </a:solidFill>
              </a:defRPr>
            </a:pPr>
            <a:r>
              <a:t>6.781</a:t>
            </a:r>
          </a:p>
        </p:txBody>
      </p:sp>
      <p:sp>
        <p:nvSpPr>
          <p:cNvPr id="9" name="TextBox 8"/>
          <p:cNvSpPr txBox="1"/>
          <p:nvPr/>
        </p:nvSpPr>
        <p:spPr>
          <a:xfrm>
            <a:off x="868680" y="2377440"/>
            <a:ext cx="6400800" cy="365760"/>
          </a:xfrm>
          <a:prstGeom prst="rect">
            <a:avLst/>
          </a:prstGeom>
          <a:noFill/>
        </p:spPr>
        <p:txBody>
          <a:bodyPr wrap="square">
            <a:spAutoFit/>
          </a:bodyPr>
          <a:lstStyle/>
          <a:p>
            <a:pPr>
              <a:spcAft>
                <a:spcPts val="800"/>
              </a:spcAft>
              <a:defRPr sz="1700" b="1">
                <a:solidFill>
                  <a:srgbClr val="12203A"/>
                </a:solidFill>
              </a:defRPr>
            </a:pPr>
            <a:r>
              <a:t>Ridge: all economic factors</a:t>
            </a:r>
          </a:p>
        </p:txBody>
      </p:sp>
      <p:sp>
        <p:nvSpPr>
          <p:cNvPr id="10" name="TextBox 9"/>
          <p:cNvSpPr txBox="1"/>
          <p:nvPr/>
        </p:nvSpPr>
        <p:spPr>
          <a:xfrm>
            <a:off x="7818120" y="2377440"/>
            <a:ext cx="1463040" cy="365760"/>
          </a:xfrm>
          <a:prstGeom prst="rect">
            <a:avLst/>
          </a:prstGeom>
          <a:noFill/>
        </p:spPr>
        <p:txBody>
          <a:bodyPr wrap="square">
            <a:spAutoFit/>
          </a:bodyPr>
          <a:lstStyle/>
          <a:p>
            <a:pPr>
              <a:spcAft>
                <a:spcPts val="800"/>
              </a:spcAft>
              <a:defRPr sz="1700" b="1">
                <a:solidFill>
                  <a:srgbClr val="12203A"/>
                </a:solidFill>
              </a:defRPr>
            </a:pPr>
            <a:r>
              <a:t>0.673</a:t>
            </a:r>
          </a:p>
        </p:txBody>
      </p:sp>
      <p:sp>
        <p:nvSpPr>
          <p:cNvPr id="11" name="TextBox 10"/>
          <p:cNvSpPr txBox="1"/>
          <p:nvPr/>
        </p:nvSpPr>
        <p:spPr>
          <a:xfrm>
            <a:off x="9921240" y="2377440"/>
            <a:ext cx="1371600" cy="365760"/>
          </a:xfrm>
          <a:prstGeom prst="rect">
            <a:avLst/>
          </a:prstGeom>
          <a:noFill/>
        </p:spPr>
        <p:txBody>
          <a:bodyPr wrap="square">
            <a:spAutoFit/>
          </a:bodyPr>
          <a:lstStyle/>
          <a:p>
            <a:pPr>
              <a:spcAft>
                <a:spcPts val="800"/>
              </a:spcAft>
              <a:defRPr sz="1700" b="1">
                <a:solidFill>
                  <a:srgbClr val="12203A"/>
                </a:solidFill>
              </a:defRPr>
            </a:pPr>
            <a:r>
              <a:t>3.708</a:t>
            </a:r>
          </a:p>
        </p:txBody>
      </p:sp>
      <p:sp>
        <p:nvSpPr>
          <p:cNvPr id="13" name="TextBox 12"/>
          <p:cNvSpPr txBox="1"/>
          <p:nvPr/>
        </p:nvSpPr>
        <p:spPr>
          <a:xfrm>
            <a:off x="868680" y="2944368"/>
            <a:ext cx="6400800" cy="365760"/>
          </a:xfrm>
          <a:prstGeom prst="rect">
            <a:avLst/>
          </a:prstGeom>
          <a:noFill/>
        </p:spPr>
        <p:txBody>
          <a:bodyPr wrap="square">
            <a:spAutoFit/>
          </a:bodyPr>
          <a:lstStyle/>
          <a:p>
            <a:pPr>
              <a:spcAft>
                <a:spcPts val="800"/>
              </a:spcAft>
              <a:defRPr sz="1700" b="0">
                <a:solidFill>
                  <a:srgbClr val="12203A"/>
                </a:solidFill>
              </a:defRPr>
            </a:pPr>
            <a:r>
              <a:t>Random forest</a:t>
            </a:r>
          </a:p>
        </p:txBody>
      </p:sp>
      <p:sp>
        <p:nvSpPr>
          <p:cNvPr id="14" name="TextBox 13"/>
          <p:cNvSpPr txBox="1"/>
          <p:nvPr/>
        </p:nvSpPr>
        <p:spPr>
          <a:xfrm>
            <a:off x="7818120" y="2944368"/>
            <a:ext cx="1463040" cy="365760"/>
          </a:xfrm>
          <a:prstGeom prst="rect">
            <a:avLst/>
          </a:prstGeom>
          <a:noFill/>
        </p:spPr>
        <p:txBody>
          <a:bodyPr wrap="square">
            <a:spAutoFit/>
          </a:bodyPr>
          <a:lstStyle/>
          <a:p>
            <a:pPr>
              <a:spcAft>
                <a:spcPts val="800"/>
              </a:spcAft>
              <a:defRPr sz="1700" b="0">
                <a:solidFill>
                  <a:srgbClr val="12203A"/>
                </a:solidFill>
              </a:defRPr>
            </a:pPr>
            <a:r>
              <a:t>0.481</a:t>
            </a:r>
          </a:p>
        </p:txBody>
      </p:sp>
      <p:sp>
        <p:nvSpPr>
          <p:cNvPr id="15" name="TextBox 14"/>
          <p:cNvSpPr txBox="1"/>
          <p:nvPr/>
        </p:nvSpPr>
        <p:spPr>
          <a:xfrm>
            <a:off x="9921240" y="2944368"/>
            <a:ext cx="1371600" cy="365760"/>
          </a:xfrm>
          <a:prstGeom prst="rect">
            <a:avLst/>
          </a:prstGeom>
          <a:noFill/>
        </p:spPr>
        <p:txBody>
          <a:bodyPr wrap="square">
            <a:spAutoFit/>
          </a:bodyPr>
          <a:lstStyle/>
          <a:p>
            <a:pPr>
              <a:spcAft>
                <a:spcPts val="800"/>
              </a:spcAft>
              <a:defRPr sz="1700" b="0">
                <a:solidFill>
                  <a:srgbClr val="12203A"/>
                </a:solidFill>
              </a:defRPr>
            </a:pPr>
            <a:r>
              <a:t>4.367</a:t>
            </a:r>
          </a:p>
        </p:txBody>
      </p:sp>
      <p:sp>
        <p:nvSpPr>
          <p:cNvPr id="16" name="TextBox 15"/>
          <p:cNvSpPr txBox="1"/>
          <p:nvPr/>
        </p:nvSpPr>
        <p:spPr>
          <a:xfrm>
            <a:off x="868680" y="3511296"/>
            <a:ext cx="6400800" cy="365760"/>
          </a:xfrm>
          <a:prstGeom prst="rect">
            <a:avLst/>
          </a:prstGeom>
          <a:noFill/>
        </p:spPr>
        <p:txBody>
          <a:bodyPr wrap="square">
            <a:spAutoFit/>
          </a:bodyPr>
          <a:lstStyle/>
          <a:p>
            <a:pPr>
              <a:spcAft>
                <a:spcPts val="800"/>
              </a:spcAft>
              <a:defRPr sz="1700" b="0">
                <a:solidFill>
                  <a:srgbClr val="12203A"/>
                </a:solidFill>
              </a:defRPr>
            </a:pPr>
            <a:r>
              <a:t>Decision tree</a:t>
            </a:r>
          </a:p>
        </p:txBody>
      </p:sp>
      <p:sp>
        <p:nvSpPr>
          <p:cNvPr id="17" name="TextBox 16"/>
          <p:cNvSpPr txBox="1"/>
          <p:nvPr/>
        </p:nvSpPr>
        <p:spPr>
          <a:xfrm>
            <a:off x="7818120" y="3511296"/>
            <a:ext cx="1463040" cy="365760"/>
          </a:xfrm>
          <a:prstGeom prst="rect">
            <a:avLst/>
          </a:prstGeom>
          <a:noFill/>
        </p:spPr>
        <p:txBody>
          <a:bodyPr wrap="square">
            <a:spAutoFit/>
          </a:bodyPr>
          <a:lstStyle/>
          <a:p>
            <a:pPr>
              <a:spcAft>
                <a:spcPts val="800"/>
              </a:spcAft>
              <a:defRPr sz="1700" b="0">
                <a:solidFill>
                  <a:srgbClr val="12203A"/>
                </a:solidFill>
              </a:defRPr>
            </a:pPr>
            <a:r>
              <a:t>0.319</a:t>
            </a:r>
          </a:p>
        </p:txBody>
      </p:sp>
      <p:sp>
        <p:nvSpPr>
          <p:cNvPr id="18" name="TextBox 17"/>
          <p:cNvSpPr txBox="1"/>
          <p:nvPr/>
        </p:nvSpPr>
        <p:spPr>
          <a:xfrm>
            <a:off x="9921240" y="3511296"/>
            <a:ext cx="1371600" cy="365760"/>
          </a:xfrm>
          <a:prstGeom prst="rect">
            <a:avLst/>
          </a:prstGeom>
          <a:noFill/>
        </p:spPr>
        <p:txBody>
          <a:bodyPr wrap="square">
            <a:spAutoFit/>
          </a:bodyPr>
          <a:lstStyle/>
          <a:p>
            <a:pPr>
              <a:spcAft>
                <a:spcPts val="800"/>
              </a:spcAft>
              <a:defRPr sz="1700" b="0">
                <a:solidFill>
                  <a:srgbClr val="12203A"/>
                </a:solidFill>
              </a:defRPr>
            </a:pPr>
            <a:r>
              <a:t>4.181</a:t>
            </a:r>
          </a:p>
        </p:txBody>
      </p:sp>
      <p:sp>
        <p:nvSpPr>
          <p:cNvPr id="20" name="TextBox 19"/>
          <p:cNvSpPr txBox="1"/>
          <p:nvPr/>
        </p:nvSpPr>
        <p:spPr>
          <a:xfrm>
            <a:off x="868680" y="4078224"/>
            <a:ext cx="6400800" cy="365760"/>
          </a:xfrm>
          <a:prstGeom prst="rect">
            <a:avLst/>
          </a:prstGeom>
          <a:noFill/>
        </p:spPr>
        <p:txBody>
          <a:bodyPr wrap="square">
            <a:spAutoFit/>
          </a:bodyPr>
          <a:lstStyle/>
          <a:p>
            <a:pPr>
              <a:spcAft>
                <a:spcPts val="800"/>
              </a:spcAft>
              <a:defRPr sz="1700" b="0">
                <a:solidFill>
                  <a:srgbClr val="12203A"/>
                </a:solidFill>
              </a:defRPr>
            </a:pPr>
            <a:r>
              <a:t>XGBoost</a:t>
            </a:r>
          </a:p>
        </p:txBody>
      </p:sp>
      <p:sp>
        <p:nvSpPr>
          <p:cNvPr id="21" name="TextBox 20"/>
          <p:cNvSpPr txBox="1"/>
          <p:nvPr/>
        </p:nvSpPr>
        <p:spPr>
          <a:xfrm>
            <a:off x="7818120" y="4078224"/>
            <a:ext cx="1463040" cy="365760"/>
          </a:xfrm>
          <a:prstGeom prst="rect">
            <a:avLst/>
          </a:prstGeom>
          <a:noFill/>
        </p:spPr>
        <p:txBody>
          <a:bodyPr wrap="square">
            <a:spAutoFit/>
          </a:bodyPr>
          <a:lstStyle/>
          <a:p>
            <a:pPr>
              <a:spcAft>
                <a:spcPts val="800"/>
              </a:spcAft>
              <a:defRPr sz="1700" b="0">
                <a:solidFill>
                  <a:srgbClr val="12203A"/>
                </a:solidFill>
              </a:defRPr>
            </a:pPr>
            <a:r>
              <a:t>0.300</a:t>
            </a:r>
          </a:p>
        </p:txBody>
      </p:sp>
      <p:sp>
        <p:nvSpPr>
          <p:cNvPr id="22" name="TextBox 21"/>
          <p:cNvSpPr txBox="1"/>
          <p:nvPr/>
        </p:nvSpPr>
        <p:spPr>
          <a:xfrm>
            <a:off x="9921240" y="4078224"/>
            <a:ext cx="1371600" cy="365760"/>
          </a:xfrm>
          <a:prstGeom prst="rect">
            <a:avLst/>
          </a:prstGeom>
          <a:noFill/>
        </p:spPr>
        <p:txBody>
          <a:bodyPr wrap="square">
            <a:spAutoFit/>
          </a:bodyPr>
          <a:lstStyle/>
          <a:p>
            <a:pPr>
              <a:spcAft>
                <a:spcPts val="800"/>
              </a:spcAft>
              <a:defRPr sz="1700" b="0">
                <a:solidFill>
                  <a:srgbClr val="12203A"/>
                </a:solidFill>
              </a:defRPr>
            </a:pPr>
            <a:r>
              <a:t>4.560</a:t>
            </a:r>
          </a:p>
        </p:txBody>
      </p:sp>
      <p:sp>
        <p:nvSpPr>
          <p:cNvPr id="23" name="TextBox 22"/>
          <p:cNvSpPr txBox="1"/>
          <p:nvPr/>
        </p:nvSpPr>
        <p:spPr>
          <a:xfrm>
            <a:off x="868680" y="4645152"/>
            <a:ext cx="6400800" cy="365760"/>
          </a:xfrm>
          <a:prstGeom prst="rect">
            <a:avLst/>
          </a:prstGeom>
          <a:noFill/>
        </p:spPr>
        <p:txBody>
          <a:bodyPr wrap="square">
            <a:spAutoFit/>
          </a:bodyPr>
          <a:lstStyle/>
          <a:p>
            <a:pPr>
              <a:spcAft>
                <a:spcPts val="800"/>
              </a:spcAft>
              <a:defRPr sz="1700" b="0">
                <a:solidFill>
                  <a:srgbClr val="12203A"/>
                </a:solidFill>
              </a:defRPr>
            </a:pPr>
            <a:r>
              <a:t>Ridge: grouped, no GDP/population</a:t>
            </a:r>
          </a:p>
        </p:txBody>
      </p:sp>
      <p:sp>
        <p:nvSpPr>
          <p:cNvPr id="24" name="TextBox 23"/>
          <p:cNvSpPr txBox="1"/>
          <p:nvPr/>
        </p:nvSpPr>
        <p:spPr>
          <a:xfrm>
            <a:off x="7818120" y="4645152"/>
            <a:ext cx="1463040" cy="365760"/>
          </a:xfrm>
          <a:prstGeom prst="rect">
            <a:avLst/>
          </a:prstGeom>
          <a:noFill/>
        </p:spPr>
        <p:txBody>
          <a:bodyPr wrap="square">
            <a:spAutoFit/>
          </a:bodyPr>
          <a:lstStyle/>
          <a:p>
            <a:pPr>
              <a:spcAft>
                <a:spcPts val="800"/>
              </a:spcAft>
              <a:defRPr sz="1700" b="0">
                <a:solidFill>
                  <a:srgbClr val="12203A"/>
                </a:solidFill>
              </a:defRPr>
            </a:pPr>
            <a:r>
              <a:t>0.171</a:t>
            </a:r>
          </a:p>
        </p:txBody>
      </p:sp>
      <p:sp>
        <p:nvSpPr>
          <p:cNvPr id="25" name="TextBox 24"/>
          <p:cNvSpPr txBox="1"/>
          <p:nvPr/>
        </p:nvSpPr>
        <p:spPr>
          <a:xfrm>
            <a:off x="9921240" y="4645152"/>
            <a:ext cx="1371600" cy="365760"/>
          </a:xfrm>
          <a:prstGeom prst="rect">
            <a:avLst/>
          </a:prstGeom>
          <a:noFill/>
        </p:spPr>
        <p:txBody>
          <a:bodyPr wrap="square">
            <a:spAutoFit/>
          </a:bodyPr>
          <a:lstStyle/>
          <a:p>
            <a:pPr>
              <a:spcAft>
                <a:spcPts val="800"/>
              </a:spcAft>
              <a:defRPr sz="1700" b="0">
                <a:solidFill>
                  <a:srgbClr val="12203A"/>
                </a:solidFill>
              </a:defRPr>
            </a:pPr>
            <a:r>
              <a:t>5.873</a:t>
            </a:r>
          </a:p>
        </p:txBody>
      </p:sp>
      <p:sp>
        <p:nvSpPr>
          <p:cNvPr id="26" name="TextBox 25"/>
          <p:cNvSpPr txBox="1"/>
          <p:nvPr/>
        </p:nvSpPr>
        <p:spPr>
          <a:xfrm>
            <a:off x="7772400" y="1508760"/>
            <a:ext cx="1280160" cy="274320"/>
          </a:xfrm>
          <a:prstGeom prst="rect">
            <a:avLst/>
          </a:prstGeom>
          <a:noFill/>
        </p:spPr>
        <p:txBody>
          <a:bodyPr wrap="square">
            <a:spAutoFit/>
          </a:bodyPr>
          <a:lstStyle/>
          <a:p>
            <a:pPr>
              <a:spcAft>
                <a:spcPts val="800"/>
              </a:spcAft>
              <a:defRPr sz="1500" b="1">
                <a:solidFill>
                  <a:srgbClr val="2667DA"/>
                </a:solidFill>
              </a:defRPr>
            </a:pPr>
            <a:r>
              <a:t>R²</a:t>
            </a:r>
          </a:p>
        </p:txBody>
      </p:sp>
      <p:sp>
        <p:nvSpPr>
          <p:cNvPr id="27" name="TextBox 26"/>
          <p:cNvSpPr txBox="1"/>
          <p:nvPr/>
        </p:nvSpPr>
        <p:spPr>
          <a:xfrm>
            <a:off x="9921240" y="1508760"/>
            <a:ext cx="1280160" cy="274320"/>
          </a:xfrm>
          <a:prstGeom prst="rect">
            <a:avLst/>
          </a:prstGeom>
          <a:noFill/>
        </p:spPr>
        <p:txBody>
          <a:bodyPr wrap="square">
            <a:spAutoFit/>
          </a:bodyPr>
          <a:lstStyle/>
          <a:p>
            <a:pPr>
              <a:spcAft>
                <a:spcPts val="800"/>
              </a:spcAft>
              <a:defRPr sz="1500" b="1">
                <a:solidFill>
                  <a:srgbClr val="2667DA"/>
                </a:solidFill>
              </a:defRPr>
            </a:pPr>
            <a:r>
              <a:t>MAE</a:t>
            </a:r>
          </a:p>
        </p:txBody>
      </p:sp>
      <p:sp>
        <p:nvSpPr>
          <p:cNvPr id="28" name="TextBox 27"/>
          <p:cNvSpPr txBox="1"/>
          <p:nvPr/>
        </p:nvSpPr>
        <p:spPr>
          <a:xfrm>
            <a:off x="777240" y="5806440"/>
            <a:ext cx="10515600" cy="457200"/>
          </a:xfrm>
          <a:prstGeom prst="rect">
            <a:avLst/>
          </a:prstGeom>
          <a:noFill/>
        </p:spPr>
        <p:txBody>
          <a:bodyPr wrap="square" lIns="38100" tIns="25400" rIns="38100" bIns="25400">
            <a:spAutoFit/>
          </a:bodyPr>
          <a:lstStyle/>
          <a:p>
            <a:pPr>
              <a:spcAft>
                <a:spcPts val="700"/>
              </a:spcAft>
            </a:pPr>
            <a:r>
              <a:rPr sz="1500">
                <a:latin typeface="Aptos"/>
              </a:rPr>
              <a:t>Ridge with all economic factors leads on both metrics (R² = 0.673; MAE = 3.708). The grouped model trails the baseline improvement, suggesting GDP and population contain substantial predictive information.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274320"/>
            <a:ext cx="10058400" cy="274320"/>
          </a:xfrm>
          <a:prstGeom prst="rect">
            <a:avLst/>
          </a:prstGeom>
          <a:noFill/>
        </p:spPr>
        <p:txBody>
          <a:bodyPr wrap="square">
            <a:spAutoFit/>
          </a:bodyPr>
          <a:lstStyle/>
          <a:p>
            <a:pPr>
              <a:spcAft>
                <a:spcPts val="800"/>
              </a:spcAft>
              <a:defRPr sz="1200" b="1">
                <a:solidFill>
                  <a:srgbClr val="2667DA"/>
                </a:solidFill>
              </a:defRPr>
            </a:pPr>
            <a:r>
              <a:t>MODEL INTERPRETATION</a:t>
            </a:r>
          </a:p>
        </p:txBody>
      </p:sp>
      <p:sp>
        <p:nvSpPr>
          <p:cNvPr id="3" name="TextBox 2"/>
          <p:cNvSpPr txBox="1"/>
          <p:nvPr/>
        </p:nvSpPr>
        <p:spPr>
          <a:xfrm>
            <a:off x="594360" y="685800"/>
            <a:ext cx="10972800" cy="640080"/>
          </a:xfrm>
          <a:prstGeom prst="rect">
            <a:avLst/>
          </a:prstGeom>
          <a:noFill/>
        </p:spPr>
        <p:txBody>
          <a:bodyPr wrap="square">
            <a:spAutoFit/>
          </a:bodyPr>
          <a:lstStyle/>
          <a:p>
            <a:pPr>
              <a:spcAft>
                <a:spcPts val="800"/>
              </a:spcAft>
              <a:defRPr sz="2900" b="1">
                <a:solidFill>
                  <a:srgbClr val="12203A"/>
                </a:solidFill>
              </a:defRPr>
            </a:pPr>
            <a:r>
              <a:t>Actual vs. predicted medal totals</a:t>
            </a:r>
          </a:p>
        </p:txBody>
      </p:sp>
      <p:sp>
        <p:nvSpPr>
          <p:cNvPr id="4" name="Rectangle 3"/>
          <p:cNvSpPr/>
          <p:nvPr/>
        </p:nvSpPr>
        <p:spPr>
          <a:xfrm>
            <a:off x="594360" y="1444752"/>
            <a:ext cx="10972800" cy="32004"/>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ctual_chart_57_0.png"/>
          <p:cNvPicPr>
            <a:picLocks noChangeAspect="1"/>
          </p:cNvPicPr>
          <p:nvPr/>
        </p:nvPicPr>
        <p:blipFill>
          <a:blip r:embed="rId2"/>
          <a:stretch>
            <a:fillRect/>
          </a:stretch>
        </p:blipFill>
        <p:spPr>
          <a:xfrm>
            <a:off x="1463431" y="1645920"/>
            <a:ext cx="5394177" cy="4297680"/>
          </a:xfrm>
          <a:prstGeom prst="rect">
            <a:avLst/>
          </a:prstGeom>
        </p:spPr>
      </p:pic>
      <p:sp>
        <p:nvSpPr>
          <p:cNvPr id="7" name="TextBox 6"/>
          <p:cNvSpPr txBox="1"/>
          <p:nvPr/>
        </p:nvSpPr>
        <p:spPr>
          <a:xfrm>
            <a:off x="7982712" y="1993392"/>
            <a:ext cx="3236976" cy="384048"/>
          </a:xfrm>
          <a:prstGeom prst="rect">
            <a:avLst/>
          </a:prstGeom>
          <a:noFill/>
        </p:spPr>
        <p:txBody>
          <a:bodyPr wrap="square">
            <a:spAutoFit/>
          </a:bodyPr>
          <a:lstStyle/>
          <a:p>
            <a:pPr>
              <a:spcAft>
                <a:spcPts val="800"/>
              </a:spcAft>
              <a:defRPr sz="1900" b="1">
                <a:solidFill>
                  <a:srgbClr val="12203A"/>
                </a:solidFill>
              </a:defRPr>
            </a:pPr>
            <a:r>
              <a:t>Interpretation</a:t>
            </a:r>
          </a:p>
        </p:txBody>
      </p:sp>
      <p:sp>
        <p:nvSpPr>
          <p:cNvPr id="8" name="TextBox 7"/>
          <p:cNvSpPr txBox="1"/>
          <p:nvPr/>
        </p:nvSpPr>
        <p:spPr>
          <a:xfrm>
            <a:off x="7982712" y="2487168"/>
            <a:ext cx="3236976" cy="3370153"/>
          </a:xfrm>
          <a:prstGeom prst="rect">
            <a:avLst/>
          </a:prstGeom>
          <a:noFill/>
        </p:spPr>
        <p:txBody>
          <a:bodyPr wrap="square" lIns="38100" tIns="25400" rIns="38100" bIns="25400">
            <a:spAutoFit/>
          </a:bodyPr>
          <a:lstStyle/>
          <a:p>
            <a:pPr>
              <a:spcAft>
                <a:spcPts val="700"/>
              </a:spcAft>
            </a:pPr>
            <a:r>
              <a:rPr sz="1700" dirty="0">
                <a:latin typeface="Aptos"/>
              </a:rPr>
              <a:t>Predictions generally rise as actual medal totals rise, showing that economic conditions capture meaningful differences among countries.</a:t>
            </a:r>
            <a:r>
              <a:rPr lang="en-US" sz="1700" dirty="0">
                <a:latin typeface="Aptos"/>
              </a:rPr>
              <a:t> This chart represents group 16’s total medals.</a:t>
            </a:r>
            <a:endParaRPr sz="1700" dirty="0">
              <a:latin typeface="Aptos"/>
            </a:endParaRPr>
          </a:p>
          <a:p>
            <a:pPr>
              <a:spcAft>
                <a:spcPts val="700"/>
              </a:spcAft>
            </a:pPr>
            <a:endParaRPr sz="1700" dirty="0">
              <a:latin typeface="Aptos"/>
            </a:endParaRPr>
          </a:p>
          <a:p>
            <a:pPr>
              <a:spcAft>
                <a:spcPts val="700"/>
              </a:spcAft>
            </a:pPr>
            <a:r>
              <a:rPr sz="1700" dirty="0">
                <a:latin typeface="Aptos"/>
              </a:rPr>
              <a:t>However, predictions are less reliable for countries with exceptionally high medal totals</a:t>
            </a:r>
            <a:r>
              <a:rPr lang="en-US" sz="1700" dirty="0">
                <a:latin typeface="Aptos"/>
              </a:rPr>
              <a:t> and exceptionally low medal totals.</a:t>
            </a:r>
            <a:endParaRPr sz="1700" dirty="0">
              <a:latin typeface="Apto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274320"/>
            <a:ext cx="10058400" cy="274320"/>
          </a:xfrm>
          <a:prstGeom prst="rect">
            <a:avLst/>
          </a:prstGeom>
          <a:noFill/>
        </p:spPr>
        <p:txBody>
          <a:bodyPr wrap="square">
            <a:spAutoFit/>
          </a:bodyPr>
          <a:lstStyle/>
          <a:p>
            <a:pPr>
              <a:spcAft>
                <a:spcPts val="800"/>
              </a:spcAft>
              <a:defRPr sz="1200" b="1">
                <a:solidFill>
                  <a:srgbClr val="2667DA"/>
                </a:solidFill>
              </a:defRPr>
            </a:pPr>
            <a:r>
              <a:t>KEY FINDINGS</a:t>
            </a:r>
          </a:p>
        </p:txBody>
      </p:sp>
      <p:sp>
        <p:nvSpPr>
          <p:cNvPr id="3" name="TextBox 2"/>
          <p:cNvSpPr txBox="1"/>
          <p:nvPr/>
        </p:nvSpPr>
        <p:spPr>
          <a:xfrm>
            <a:off x="594360" y="685800"/>
            <a:ext cx="10972800" cy="640080"/>
          </a:xfrm>
          <a:prstGeom prst="rect">
            <a:avLst/>
          </a:prstGeom>
          <a:noFill/>
        </p:spPr>
        <p:txBody>
          <a:bodyPr wrap="square">
            <a:spAutoFit/>
          </a:bodyPr>
          <a:lstStyle/>
          <a:p>
            <a:pPr>
              <a:spcAft>
                <a:spcPts val="800"/>
              </a:spcAft>
              <a:defRPr sz="2900" b="1">
                <a:solidFill>
                  <a:srgbClr val="12203A"/>
                </a:solidFill>
              </a:defRPr>
            </a:pPr>
            <a:r>
              <a:t>What did we learn?</a:t>
            </a:r>
          </a:p>
        </p:txBody>
      </p:sp>
      <p:sp>
        <p:nvSpPr>
          <p:cNvPr id="4" name="Rectangle 3"/>
          <p:cNvSpPr/>
          <p:nvPr/>
        </p:nvSpPr>
        <p:spPr>
          <a:xfrm>
            <a:off x="594360" y="1444752"/>
            <a:ext cx="10972800" cy="32004"/>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ctual_chart_48_0.png"/>
          <p:cNvPicPr>
            <a:picLocks noChangeAspect="1"/>
          </p:cNvPicPr>
          <p:nvPr/>
        </p:nvPicPr>
        <p:blipFill>
          <a:blip r:embed="rId2"/>
          <a:stretch>
            <a:fillRect/>
          </a:stretch>
        </p:blipFill>
        <p:spPr>
          <a:xfrm>
            <a:off x="1499880" y="1783080"/>
            <a:ext cx="4909799" cy="4069080"/>
          </a:xfrm>
          <a:prstGeom prst="rect">
            <a:avLst/>
          </a:prstGeom>
        </p:spPr>
      </p:pic>
      <p:sp>
        <p:nvSpPr>
          <p:cNvPr id="7" name="TextBox 6"/>
          <p:cNvSpPr txBox="1"/>
          <p:nvPr/>
        </p:nvSpPr>
        <p:spPr>
          <a:xfrm>
            <a:off x="7525512" y="1947672"/>
            <a:ext cx="3739896" cy="384048"/>
          </a:xfrm>
          <a:prstGeom prst="rect">
            <a:avLst/>
          </a:prstGeom>
          <a:noFill/>
        </p:spPr>
        <p:txBody>
          <a:bodyPr wrap="square">
            <a:spAutoFit/>
          </a:bodyPr>
          <a:lstStyle/>
          <a:p>
            <a:pPr>
              <a:spcAft>
                <a:spcPts val="800"/>
              </a:spcAft>
              <a:defRPr sz="1900" b="1">
                <a:solidFill>
                  <a:srgbClr val="12203A"/>
                </a:solidFill>
              </a:defRPr>
            </a:pPr>
            <a:r>
              <a:t>Evidence from the models</a:t>
            </a:r>
          </a:p>
        </p:txBody>
      </p:sp>
      <p:sp>
        <p:nvSpPr>
          <p:cNvPr id="8" name="TextBox 7"/>
          <p:cNvSpPr txBox="1"/>
          <p:nvPr/>
        </p:nvSpPr>
        <p:spPr>
          <a:xfrm>
            <a:off x="7525512" y="2441448"/>
            <a:ext cx="3739896" cy="3291840"/>
          </a:xfrm>
          <a:prstGeom prst="rect">
            <a:avLst/>
          </a:prstGeom>
          <a:noFill/>
        </p:spPr>
        <p:txBody>
          <a:bodyPr wrap="square" lIns="38100" tIns="25400" rIns="38100" bIns="25400">
            <a:spAutoFit/>
          </a:bodyPr>
          <a:lstStyle/>
          <a:p>
            <a:pPr>
              <a:spcAft>
                <a:spcPts val="700"/>
              </a:spcAft>
            </a:pPr>
            <a:r>
              <a:rPr sz="1700" dirty="0">
                <a:latin typeface="Aptos"/>
              </a:rPr>
              <a:t>The all-factor Ridge model performs best on held-out countries (R² = 0.673; MAE = 3.708), beating the mean-only baseline (MAE = 6.781).</a:t>
            </a:r>
          </a:p>
          <a:p>
            <a:pPr>
              <a:spcAft>
                <a:spcPts val="700"/>
              </a:spcAft>
            </a:pPr>
            <a:endParaRPr sz="1700" dirty="0">
              <a:latin typeface="Aptos"/>
            </a:endParaRPr>
          </a:p>
          <a:p>
            <a:pPr>
              <a:spcAft>
                <a:spcPts val="700"/>
              </a:spcAft>
            </a:pPr>
            <a:r>
              <a:rPr sz="1700" dirty="0">
                <a:latin typeface="Aptos"/>
              </a:rPr>
              <a:t>The grouped Ridge approach without direct GDP/population predictors is weaker (R² = 0.171; MAE = 5.873). Grouping alone does not recover the predictive information lost by excluding these variables.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274320"/>
            <a:ext cx="10058400" cy="274320"/>
          </a:xfrm>
          <a:prstGeom prst="rect">
            <a:avLst/>
          </a:prstGeom>
          <a:noFill/>
        </p:spPr>
        <p:txBody>
          <a:bodyPr wrap="square">
            <a:spAutoFit/>
          </a:bodyPr>
          <a:lstStyle/>
          <a:p>
            <a:pPr>
              <a:spcAft>
                <a:spcPts val="800"/>
              </a:spcAft>
              <a:defRPr sz="1200" b="1">
                <a:solidFill>
                  <a:srgbClr val="2667DA"/>
                </a:solidFill>
              </a:defRPr>
            </a:pPr>
            <a:r>
              <a:t>LIMITATIONS AND NEXT STEPS</a:t>
            </a:r>
          </a:p>
        </p:txBody>
      </p:sp>
      <p:sp>
        <p:nvSpPr>
          <p:cNvPr id="3" name="TextBox 2"/>
          <p:cNvSpPr txBox="1"/>
          <p:nvPr/>
        </p:nvSpPr>
        <p:spPr>
          <a:xfrm>
            <a:off x="594360" y="685800"/>
            <a:ext cx="10972800" cy="640080"/>
          </a:xfrm>
          <a:prstGeom prst="rect">
            <a:avLst/>
          </a:prstGeom>
          <a:noFill/>
        </p:spPr>
        <p:txBody>
          <a:bodyPr wrap="square">
            <a:spAutoFit/>
          </a:bodyPr>
          <a:lstStyle/>
          <a:p>
            <a:pPr>
              <a:spcAft>
                <a:spcPts val="800"/>
              </a:spcAft>
              <a:defRPr sz="2900" b="1">
                <a:solidFill>
                  <a:srgbClr val="12203A"/>
                </a:solidFill>
              </a:defRPr>
            </a:pPr>
            <a:r>
              <a:t>Challenges, future work and implications</a:t>
            </a:r>
          </a:p>
        </p:txBody>
      </p:sp>
      <p:sp>
        <p:nvSpPr>
          <p:cNvPr id="4" name="Rectangle 3"/>
          <p:cNvSpPr/>
          <p:nvPr/>
        </p:nvSpPr>
        <p:spPr>
          <a:xfrm>
            <a:off x="594360" y="1444752"/>
            <a:ext cx="10972800" cy="32004"/>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0392" y="1901952"/>
            <a:ext cx="4928616" cy="384048"/>
          </a:xfrm>
          <a:prstGeom prst="rect">
            <a:avLst/>
          </a:prstGeom>
          <a:noFill/>
        </p:spPr>
        <p:txBody>
          <a:bodyPr wrap="square">
            <a:spAutoFit/>
          </a:bodyPr>
          <a:lstStyle/>
          <a:p>
            <a:pPr>
              <a:spcAft>
                <a:spcPts val="800"/>
              </a:spcAft>
              <a:defRPr sz="1900" b="1">
                <a:solidFill>
                  <a:srgbClr val="12203A"/>
                </a:solidFill>
              </a:defRPr>
            </a:pPr>
            <a:r>
              <a:t>Challenges</a:t>
            </a:r>
          </a:p>
        </p:txBody>
      </p:sp>
      <p:sp>
        <p:nvSpPr>
          <p:cNvPr id="7" name="TextBox 6"/>
          <p:cNvSpPr txBox="1"/>
          <p:nvPr/>
        </p:nvSpPr>
        <p:spPr>
          <a:xfrm>
            <a:off x="850392" y="2395728"/>
            <a:ext cx="4928616" cy="3154679"/>
          </a:xfrm>
          <a:prstGeom prst="rect">
            <a:avLst/>
          </a:prstGeom>
          <a:noFill/>
        </p:spPr>
        <p:txBody>
          <a:bodyPr wrap="square" lIns="38100" tIns="25400" rIns="38100" bIns="25400">
            <a:spAutoFit/>
          </a:bodyPr>
          <a:lstStyle/>
          <a:p>
            <a:pPr>
              <a:spcAft>
                <a:spcPts val="700"/>
              </a:spcAft>
            </a:pPr>
            <a:r>
              <a:rPr sz="1700">
                <a:latin typeface="Aptos"/>
              </a:rPr>
              <a:t>• Missing indicators vary across countries and years, reducing usable training data.</a:t>
            </a:r>
          </a:p>
          <a:p>
            <a:pPr>
              <a:spcAft>
                <a:spcPts val="700"/>
              </a:spcAft>
            </a:pPr>
            <a:r>
              <a:rPr sz="1700">
                <a:latin typeface="Aptos"/>
              </a:rPr>
              <a:t>• Medal totals are highly skewed: a small number of countries win many medals.</a:t>
            </a:r>
          </a:p>
          <a:p>
            <a:pPr>
              <a:spcAft>
                <a:spcPts val="700"/>
              </a:spcAft>
            </a:pPr>
            <a:r>
              <a:rPr sz="1700">
                <a:latin typeface="Aptos"/>
              </a:rPr>
              <a:t>• GDP and population can overshadow weaker relationships with other indicators.</a:t>
            </a:r>
          </a:p>
          <a:p>
            <a:pPr>
              <a:spcAft>
                <a:spcPts val="700"/>
              </a:spcAft>
            </a:pPr>
            <a:r>
              <a:rPr sz="1700">
                <a:latin typeface="Aptos"/>
              </a:rPr>
              <a:t>• Correlations describe associations, not proof that economic policy causes medals.</a:t>
            </a:r>
          </a:p>
        </p:txBody>
      </p:sp>
      <p:sp>
        <p:nvSpPr>
          <p:cNvPr id="9" name="TextBox 8"/>
          <p:cNvSpPr txBox="1"/>
          <p:nvPr/>
        </p:nvSpPr>
        <p:spPr>
          <a:xfrm>
            <a:off x="6336792" y="1901952"/>
            <a:ext cx="4928616" cy="384048"/>
          </a:xfrm>
          <a:prstGeom prst="rect">
            <a:avLst/>
          </a:prstGeom>
          <a:noFill/>
        </p:spPr>
        <p:txBody>
          <a:bodyPr wrap="square">
            <a:spAutoFit/>
          </a:bodyPr>
          <a:lstStyle/>
          <a:p>
            <a:pPr>
              <a:spcAft>
                <a:spcPts val="800"/>
              </a:spcAft>
              <a:defRPr sz="1900" b="1">
                <a:solidFill>
                  <a:srgbClr val="12203A"/>
                </a:solidFill>
              </a:defRPr>
            </a:pPr>
            <a:r>
              <a:t>Next steps</a:t>
            </a:r>
          </a:p>
        </p:txBody>
      </p:sp>
      <p:sp>
        <p:nvSpPr>
          <p:cNvPr id="10" name="TextBox 9"/>
          <p:cNvSpPr txBox="1"/>
          <p:nvPr/>
        </p:nvSpPr>
        <p:spPr>
          <a:xfrm>
            <a:off x="6336792" y="2395728"/>
            <a:ext cx="4928616" cy="3377848"/>
          </a:xfrm>
          <a:prstGeom prst="rect">
            <a:avLst/>
          </a:prstGeom>
          <a:noFill/>
        </p:spPr>
        <p:txBody>
          <a:bodyPr wrap="square" lIns="38100" tIns="25400" rIns="38100" bIns="25400">
            <a:spAutoFit/>
          </a:bodyPr>
          <a:lstStyle/>
          <a:p>
            <a:pPr>
              <a:spcAft>
                <a:spcPts val="700"/>
              </a:spcAft>
            </a:pPr>
            <a:r>
              <a:rPr sz="1700" dirty="0">
                <a:latin typeface="Aptos"/>
              </a:rPr>
              <a:t>• Validate across multiple Olympic years to test whether results generalize over time.</a:t>
            </a:r>
          </a:p>
          <a:p>
            <a:pPr>
              <a:spcAft>
                <a:spcPts val="700"/>
              </a:spcAft>
            </a:pPr>
            <a:r>
              <a:rPr sz="1700" dirty="0">
                <a:latin typeface="Aptos"/>
              </a:rPr>
              <a:t>• Tune hyperparameters and compare models using consistent cross-validation.</a:t>
            </a:r>
          </a:p>
          <a:p>
            <a:pPr>
              <a:spcAft>
                <a:spcPts val="700"/>
              </a:spcAft>
            </a:pPr>
            <a:r>
              <a:rPr sz="1700" dirty="0">
                <a:latin typeface="Aptos"/>
              </a:rPr>
              <a:t>• Analyze medals per athlete alongside total</a:t>
            </a:r>
            <a:r>
              <a:rPr lang="en-US" sz="1700" dirty="0">
                <a:latin typeface="Aptos"/>
              </a:rPr>
              <a:t> participation per population.</a:t>
            </a:r>
            <a:endParaRPr sz="1700" dirty="0">
              <a:latin typeface="Aptos"/>
            </a:endParaRPr>
          </a:p>
          <a:p>
            <a:pPr>
              <a:spcAft>
                <a:spcPts val="700"/>
              </a:spcAft>
            </a:pPr>
            <a:r>
              <a:rPr sz="1700" dirty="0">
                <a:latin typeface="Aptos"/>
              </a:rPr>
              <a:t>• Examine prediction errors by country size and income group to identify systematic bias.</a:t>
            </a:r>
            <a:endParaRPr lang="en-US" sz="1700" dirty="0">
              <a:latin typeface="Aptos"/>
            </a:endParaRPr>
          </a:p>
          <a:p>
            <a:pPr>
              <a:spcAft>
                <a:spcPts val="700"/>
              </a:spcAft>
            </a:pPr>
            <a:r>
              <a:rPr lang="en-US" sz="1700" dirty="0">
                <a:latin typeface="Aptos"/>
              </a:rPr>
              <a:t>• Tune grouped models to better analyze individual economic factors within groups</a:t>
            </a:r>
          </a:p>
          <a:p>
            <a:pPr>
              <a:spcAft>
                <a:spcPts val="700"/>
              </a:spcAft>
            </a:pPr>
            <a:endParaRPr sz="1700" dirty="0">
              <a:latin typeface="Aptos"/>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274320"/>
            <a:ext cx="10058400" cy="274320"/>
          </a:xfrm>
          <a:prstGeom prst="rect">
            <a:avLst/>
          </a:prstGeom>
          <a:noFill/>
        </p:spPr>
        <p:txBody>
          <a:bodyPr wrap="square">
            <a:spAutoFit/>
          </a:bodyPr>
          <a:lstStyle/>
          <a:p>
            <a:pPr>
              <a:spcAft>
                <a:spcPts val="800"/>
              </a:spcAft>
              <a:defRPr sz="1200" b="1">
                <a:solidFill>
                  <a:srgbClr val="2667DA"/>
                </a:solidFill>
              </a:defRPr>
            </a:pPr>
            <a:r>
              <a:t>CONCLUSION</a:t>
            </a:r>
          </a:p>
        </p:txBody>
      </p:sp>
      <p:sp>
        <p:nvSpPr>
          <p:cNvPr id="3" name="TextBox 2"/>
          <p:cNvSpPr txBox="1"/>
          <p:nvPr/>
        </p:nvSpPr>
        <p:spPr>
          <a:xfrm>
            <a:off x="594360" y="685800"/>
            <a:ext cx="10972800" cy="640080"/>
          </a:xfrm>
          <a:prstGeom prst="rect">
            <a:avLst/>
          </a:prstGeom>
          <a:noFill/>
        </p:spPr>
        <p:txBody>
          <a:bodyPr wrap="square">
            <a:spAutoFit/>
          </a:bodyPr>
          <a:lstStyle/>
          <a:p>
            <a:pPr>
              <a:spcAft>
                <a:spcPts val="800"/>
              </a:spcAft>
              <a:defRPr sz="2900" b="1">
                <a:solidFill>
                  <a:srgbClr val="12203A"/>
                </a:solidFill>
              </a:defRPr>
            </a:pPr>
            <a:r>
              <a:t>Economic conditions help explain Olympic success</a:t>
            </a:r>
          </a:p>
        </p:txBody>
      </p:sp>
      <p:sp>
        <p:nvSpPr>
          <p:cNvPr id="4" name="Rectangle 3"/>
          <p:cNvSpPr/>
          <p:nvPr/>
        </p:nvSpPr>
        <p:spPr>
          <a:xfrm>
            <a:off x="594360" y="1444752"/>
            <a:ext cx="10972800" cy="32004"/>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96112" y="1947672"/>
            <a:ext cx="10369296" cy="384048"/>
          </a:xfrm>
          <a:prstGeom prst="rect">
            <a:avLst/>
          </a:prstGeom>
          <a:noFill/>
        </p:spPr>
        <p:txBody>
          <a:bodyPr wrap="square">
            <a:spAutoFit/>
          </a:bodyPr>
          <a:lstStyle/>
          <a:p>
            <a:pPr>
              <a:spcAft>
                <a:spcPts val="800"/>
              </a:spcAft>
              <a:defRPr sz="1900" b="1">
                <a:solidFill>
                  <a:srgbClr val="12203A"/>
                </a:solidFill>
              </a:defRPr>
            </a:pPr>
            <a:r>
              <a:rPr dirty="0"/>
              <a:t>Main </a:t>
            </a:r>
            <a:r>
              <a:rPr lang="en-US" dirty="0"/>
              <a:t>T</a:t>
            </a:r>
            <a:r>
              <a:rPr dirty="0"/>
              <a:t>akeaway</a:t>
            </a:r>
          </a:p>
        </p:txBody>
      </p:sp>
      <p:sp>
        <p:nvSpPr>
          <p:cNvPr id="7" name="TextBox 6"/>
          <p:cNvSpPr txBox="1"/>
          <p:nvPr/>
        </p:nvSpPr>
        <p:spPr>
          <a:xfrm>
            <a:off x="896112" y="2441448"/>
            <a:ext cx="10369296" cy="1538883"/>
          </a:xfrm>
          <a:prstGeom prst="rect">
            <a:avLst/>
          </a:prstGeom>
          <a:noFill/>
        </p:spPr>
        <p:txBody>
          <a:bodyPr wrap="square" lIns="38100" tIns="25400" rIns="38100" bIns="25400">
            <a:spAutoFit/>
          </a:bodyPr>
          <a:lstStyle/>
          <a:p>
            <a:pPr>
              <a:spcAft>
                <a:spcPts val="700"/>
              </a:spcAft>
            </a:pPr>
            <a:r>
              <a:rPr sz="1700" dirty="0">
                <a:latin typeface="Aptos"/>
              </a:rPr>
              <a:t>Economic indicators help predict national Olympic medal totals. Our strongest model—Ridge regression using the full economic feature set—achieves MAE 3.708, compared with 6.781 for a mean-only baseline.</a:t>
            </a:r>
          </a:p>
          <a:p>
            <a:pPr>
              <a:spcAft>
                <a:spcPts val="700"/>
              </a:spcAft>
            </a:pPr>
            <a:endParaRPr sz="1700" dirty="0">
              <a:latin typeface="Aptos"/>
            </a:endParaRPr>
          </a:p>
          <a:p>
            <a:pPr>
              <a:spcAft>
                <a:spcPts val="700"/>
              </a:spcAft>
            </a:pPr>
            <a:r>
              <a:rPr sz="1700" dirty="0">
                <a:latin typeface="Aptos"/>
              </a:rPr>
              <a:t>GDP and population are informative, but differences within similarly sized and wealthy country groups suggest that additional factors and sporting context deserve further study. </a:t>
            </a:r>
          </a:p>
        </p:txBody>
      </p:sp>
      <p:sp>
        <p:nvSpPr>
          <p:cNvPr id="8" name="TextBox 7"/>
          <p:cNvSpPr txBox="1"/>
          <p:nvPr/>
        </p:nvSpPr>
        <p:spPr>
          <a:xfrm>
            <a:off x="896112" y="4454611"/>
            <a:ext cx="10058400" cy="594360"/>
          </a:xfrm>
          <a:prstGeom prst="rect">
            <a:avLst/>
          </a:prstGeom>
          <a:noFill/>
        </p:spPr>
        <p:txBody>
          <a:bodyPr wrap="square">
            <a:spAutoFit/>
          </a:bodyPr>
          <a:lstStyle/>
          <a:p>
            <a:pPr>
              <a:spcAft>
                <a:spcPts val="800"/>
              </a:spcAft>
              <a:defRPr sz="2800" b="1">
                <a:solidFill>
                  <a:srgbClr val="2667DA"/>
                </a:solidFill>
              </a:defRPr>
            </a:pPr>
            <a:r>
              <a:rPr dirty="0"/>
              <a:t>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29</TotalTime>
  <Words>597</Words>
  <Application>Microsoft Macintosh PowerPoint</Application>
  <PresentationFormat>Widescreen</PresentationFormat>
  <Paragraphs>78</Paragraphs>
  <Slides>17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Ethan Westfall</cp:lastModifiedBy>
  <cp:revision>2</cp:revision>
  <dcterms:created xsi:type="dcterms:W3CDTF">2013-01-27T09:14:16Z</dcterms:created>
  <dcterms:modified xsi:type="dcterms:W3CDTF">2026-10-20T20:12:45Z</dcterms:modified>
  <cp:category/>
</cp:coreProperties>
</file>