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2"/>
  </p:normalViewPr>
  <p:slideViewPr>
    <p:cSldViewPr snapToGrid="0" snapToObjects="1">
      <p:cViewPr varScale="1">
        <p:scale>
          <a:sx n="104" d="100"/>
          <a:sy n="104" d="100"/>
        </p:scale>
        <p:origin x="80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start model evaluation with a null baseline so we know our models beat a naive guess.</a:t>
            </a:r>
          </a:p>
          <a:p/>
          <a:p>
            <a:r>
              <a:t>The null model predicts the same medal total for every country in the test set: the average medals from the training countries. It ignores population, GDP, team size, health spending, and all other features.</a:t>
            </a:r>
          </a:p>
          <a:p/>
          <a:p>
            <a:r>
              <a:t>We use the same 2016 holdout for every model: about 25% of countries held out, 51 countries in the test set. MAE is average error in medals. R-squared shows how much better we are than predicting one flat number.</a:t>
            </a:r>
          </a:p>
          <a:p/>
          <a:p>
            <a:r>
              <a:t>On the slide: null baseline MAE is 6.781 medals and R-squared is -0.004. That is almost no explanatory power. The grouped null baseline MAE is 8.538 with R-squared still about -0.004.</a:t>
            </a:r>
          </a:p>
          <a:p/>
          <a:p>
            <a:r>
              <a:t>Any useful model should beat 6.781 MAE and get R-squared clearly above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shows that adding economic predictors helps a lot compared to the null.</a:t>
            </a:r>
          </a:p>
          <a:p/>
          <a:p>
            <a:r>
              <a:t>Null baseline MAE: 6.781 medals.</a:t>
            </a:r>
          </a:p>
          <a:p/>
          <a:p>
            <a:r>
              <a:t>Ridge with all well-covered economic factors: MAE 3.708. That is a 45.3% drop in average error versus the null.</a:t>
            </a:r>
          </a:p>
          <a:p/>
          <a:p>
            <a:r>
              <a:t>Ridge with country groups and without GDP and population in the feature set: MAE 5.873. It improves on some baselines but is much worse than all-factor Ridge.</a:t>
            </a:r>
          </a:p>
          <a:p/>
          <a:p>
            <a:r>
              <a:t>Grouped null baseline MAE on the slide: 8.538. Always compare models on the same countries and the same train-test split.</a:t>
            </a:r>
          </a:p>
          <a:p/>
          <a:p>
            <a:r>
              <a:t>Takeaway: the full economic feature set matters; grouping alone does not replace GDP and population.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Side-by-side regression results for 2016 total medals on the held-out test countries.</a:t>
            </a:r>
          </a:p>
          <a:p/>
          <a:p>
            <a:r>
              <a:t>Null mean: R-squared -0.004, MAE 6.781.</a:t>
            </a:r>
          </a:p>
          <a:p/>
          <a:p>
            <a:r>
              <a:t>Ridge, all economic factors: R-squared 0.673, MAE 3.708. This is our best model on this slide.</a:t>
            </a:r>
          </a:p>
          <a:p/>
          <a:p>
            <a:r>
              <a:t>Random forest: R-squared 0.481, MAE 4.367.</a:t>
            </a:r>
          </a:p>
          <a:p/>
          <a:p>
            <a:r>
              <a:t>Decision tree: R-squared 0.319, MAE 4.181.</a:t>
            </a:r>
          </a:p>
          <a:p/>
          <a:p>
            <a:r>
              <a:t>XGBoost: R-squared 0.300, MAE 4.560.</a:t>
            </a:r>
          </a:p>
          <a:p/>
          <a:p>
            <a:r>
              <a:t>Ridge, grouped without GDP and population: R-squared 0.171, MAE 5.873.</a:t>
            </a:r>
          </a:p>
          <a:p/>
          <a:p>
            <a:r>
              <a:t>Ridge with all factors wins on both R-squared and MAE. GDP and population carry a lot of signal; the grouped model without them is weaker.</a:t>
            </a:r>
          </a:p>
          <a:p/>
          <a:p>
            <a:r>
              <a:t>We use MAE and R-squared for medal counts because many countries have zero medals and accuracy would be misleading.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chart plots predicted versus actual total medals for test countries.</a:t>
            </a:r>
          </a:p>
          <a:p/>
          <a:p>
            <a:r>
              <a:t>When actual medals go up, predictions usually go up too, so the model picks up real differences between countries. The example on the slide is for group 16.</a:t>
            </a:r>
          </a:p>
          <a:p/>
          <a:p>
            <a:r>
              <a:t>The model is weaker at the extremes. Very high medal countries are often under-predicted. Countries with zero or very few medals are also hard because economics alone does not capture sport focus, hosting, or talent pipelines.</a:t>
            </a:r>
          </a:p>
          <a:p/>
          <a:p>
            <a:r>
              <a:t>This is prediction and association for one Olympic year, not proof that a policy change causes medals.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main findings from midterm modeling.</a:t>
            </a:r>
          </a:p>
          <a:p/>
          <a:p>
            <a:r>
              <a:t>First: all-factor Ridge is strongest on held-out data with R-squared 0.673 and MAE 3.708, versus null MAE 6.781.</a:t>
            </a:r>
          </a:p>
          <a:p/>
          <a:p>
            <a:r>
              <a:t>Second: grouped Ridge without GDP and population has R-squared 0.171 and MAE 5.873. Grouping does not replace size and wealth variables.</a:t>
            </a:r>
          </a:p>
          <a:p/>
          <a:p>
            <a:r>
              <a:t>Third: within similar GDP and population bins, some countries still over- or under-perform. That supports our stakeholder work on medals per athlete and efficiency, not only raw totals.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Limitations we are honest about.</a:t>
            </a:r>
          </a:p>
          <a:p/>
          <a:p>
            <a:r>
              <a:t>Missing WDI data varies by country and year, so we lose usable rows and impute medians. That can hurt low-income countries the most.</a:t>
            </a:r>
          </a:p>
          <a:p/>
          <a:p>
            <a:r>
              <a:t>Medal totals are skewed: a few countries win most medals.</a:t>
            </a:r>
          </a:p>
          <a:p/>
          <a:p>
            <a:r>
              <a:t>GDP and population dominate many models; other indicators are harder to separate.</a:t>
            </a:r>
          </a:p>
          <a:p/>
          <a:p>
            <a:r>
              <a:t>Correlation is not causation. We are not claiming sports spending causes medals.</a:t>
            </a:r>
          </a:p>
          <a:p/>
          <a:p>
            <a:r>
              <a:t>Next steps: validate on multiple Olympic years; tune random forest, XGBoost, and LightGBM with proper cross-validation; report medals per athlete and per GDP; check errors by income and size groups; improve models within country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Economic indicators help predict national Olympic medal totals in our merged World Bank and Olympic data.</a:t>
            </a:r>
          </a:p>
          <a:p/>
          <a:p>
            <a:r>
              <a:t>Best regression on this deck: Ridge with the full economic feature set, MAE 3.708 versus 6.781 for the mean-only baseline. R-squared 0.673 versus about -0.004 for the null.</a:t>
            </a:r>
          </a:p>
          <a:p/>
          <a:p>
            <a:r>
              <a:t>GDP and population still matter. Differences inside similar groups are what we will study more before the final.</a:t>
            </a:r>
          </a:p>
          <a:p/>
          <a:p>
            <a:r>
              <a:t>Code and data: GitHub repo ahmadmashhood01/IST.707-PROJECT. Main notebook: olympic_economics_split_models.ipynb. Written report: MIDTERM_REPORT.md.</a:t>
            </a:r>
          </a:p>
          <a:p/>
          <a:p>
            <a:r>
              <a:t>If someone asks why 2016: one clean year with good WDI overlap and 201 countries in the modeling table, 51 in the test set. We will add more years for the final.</a:t>
            </a:r>
          </a:p>
          <a:p/>
          <a:p>
            <a:r>
              <a:t>If someone asks about data: Olympedia-style medals plus World Bank WDI merged on country and year into olympic_economics.csv, 13,584 rows and 74 columns in the full merge.</a:t>
            </a:r>
          </a:p>
          <a:p/>
          <a:p>
            <a:r>
              <a:t>If someone asks why Ridge beat trees here: one year, correlated features, about 150 training countries; trees can overfit. We are tuning ensembles next.</a:t>
            </a:r>
          </a:p>
          <a:p/>
          <a:p>
            <a:r>
              <a:t>If someone asks about winning any medal at all: in the notebook, logistic regression gets about 0.902 accuracy and 0.872 F1 on the same split, versus 0.608 accuracy and 0.000 F1 for always predicting no medal.</a:t>
            </a:r>
          </a:p>
          <a:p/>
          <a:p>
            <a:r>
              <a:t>If someone asks how groups are built: bins on 2016 GDP per capita and population in the notebook, sections 14 through 18.</a:t>
            </a:r>
          </a:p>
          <a:p/>
          <a:p>
            <a:r>
              <a:t>If someone asks about stakeholders: NOCs, sports ministries, IOC Solidarity, media, and athletes in developing countries, from our proposal.</a:t>
            </a:r>
          </a:p>
          <a:p/>
          <a:p>
            <a:r>
              <a:t>If someone asks what we do not know yet: say you will check the notebook section or report rather than guessing a number.</a:t>
            </a:r>
          </a:p>
          <a:p/>
          <a:p>
            <a:r>
              <a:t>Thanks for listening. Questions welcome.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original_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original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original_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original_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original_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original_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original_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original_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original_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original_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667DA"/>
                </a:solidFill>
              </a:defRPr>
            </a:pPr>
            <a:r>
              <a:t>MODEL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2203A"/>
                </a:solidFill>
              </a:defRPr>
            </a:pPr>
            <a:r>
              <a:t>What does a null baseline predict?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444752"/>
            <a:ext cx="10972800" cy="32004"/>
          </a:xfrm>
          <a:prstGeom prst="rect">
            <a:avLst/>
          </a:prstGeom>
          <a:solidFill>
            <a:srgbClr val="266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4937760" cy="3200400"/>
          </a:xfrm>
          <a:prstGeom prst="roundRect">
            <a:avLst/>
          </a:prstGeom>
          <a:solidFill>
            <a:srgbClr val="E7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0392" y="1901952"/>
            <a:ext cx="45171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2203A"/>
                </a:solidFill>
              </a:defRPr>
            </a:pPr>
            <a:r>
              <a:t>Null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395728"/>
            <a:ext cx="4517136" cy="2323713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>
              <a:spcAft>
                <a:spcPts val="700"/>
              </a:spcAft>
            </a:pPr>
            <a:r>
              <a:rPr sz="1700" dirty="0">
                <a:latin typeface="Aptos"/>
              </a:rPr>
              <a:t>The null model predicts the mean</a:t>
            </a:r>
            <a:r>
              <a:rPr lang="en-US" sz="1700" dirty="0">
                <a:latin typeface="Aptos"/>
              </a:rPr>
              <a:t> of the training sets</a:t>
            </a:r>
            <a:r>
              <a:rPr sz="1700" dirty="0">
                <a:latin typeface="Aptos"/>
              </a:rPr>
              <a:t> medal count for every country, regardless of its population, wealth</a:t>
            </a:r>
            <a:r>
              <a:rPr lang="en-US" sz="1700" dirty="0">
                <a:latin typeface="Aptos"/>
              </a:rPr>
              <a:t> (GDP)</a:t>
            </a:r>
            <a:r>
              <a:rPr sz="1700" dirty="0">
                <a:latin typeface="Aptos"/>
              </a:rPr>
              <a:t>, athlete participation</a:t>
            </a:r>
            <a:r>
              <a:rPr lang="en-US" sz="1700" dirty="0">
                <a:latin typeface="Aptos"/>
              </a:rPr>
              <a:t>, health expenditure, etc.</a:t>
            </a:r>
            <a:endParaRPr sz="1700" dirty="0">
              <a:latin typeface="Aptos"/>
            </a:endParaRPr>
          </a:p>
          <a:p>
            <a:pPr>
              <a:spcAft>
                <a:spcPts val="700"/>
              </a:spcAft>
            </a:pPr>
            <a:endParaRPr sz="1700" dirty="0">
              <a:latin typeface="Aptos"/>
            </a:endParaRPr>
          </a:p>
          <a:p>
            <a:pPr>
              <a:spcAft>
                <a:spcPts val="700"/>
              </a:spcAft>
            </a:pPr>
            <a:r>
              <a:rPr lang="en-US" sz="1700" dirty="0">
                <a:latin typeface="Aptos"/>
              </a:rPr>
              <a:t>The null model provide </a:t>
            </a:r>
            <a:r>
              <a:rPr sz="1700" dirty="0">
                <a:latin typeface="Aptos"/>
              </a:rPr>
              <a:t>a reference for judging whether economic predictors add value</a:t>
            </a:r>
            <a:r>
              <a:rPr lang="en-US" sz="1700" dirty="0">
                <a:latin typeface="Aptos"/>
              </a:rPr>
              <a:t> to the test model.</a:t>
            </a:r>
            <a:endParaRPr sz="1700" dirty="0"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760720" y="1737360"/>
            <a:ext cx="5669280" cy="3200400"/>
          </a:xfrm>
          <a:prstGeom prst="roundRect">
            <a:avLst/>
          </a:prstGeom>
          <a:solidFill>
            <a:srgbClr val="E7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71032" y="1901952"/>
            <a:ext cx="52486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2203A"/>
                </a:solidFill>
              </a:defRPr>
            </a:pPr>
            <a: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1032" y="2395728"/>
            <a:ext cx="5248656" cy="1800493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>
              <a:spcAft>
                <a:spcPts val="700"/>
              </a:spcAft>
            </a:pPr>
            <a:r>
              <a:rPr sz="1700" dirty="0">
                <a:latin typeface="Aptos"/>
              </a:rPr>
              <a:t>We evaluate all models on countries</a:t>
            </a:r>
            <a:r>
              <a:rPr lang="en-US" sz="1700" dirty="0">
                <a:latin typeface="Aptos"/>
              </a:rPr>
              <a:t> withing the groups and without the groups</a:t>
            </a:r>
            <a:r>
              <a:rPr sz="1700" dirty="0">
                <a:latin typeface="Aptos"/>
              </a:rPr>
              <a:t> using the same test</a:t>
            </a:r>
            <a:r>
              <a:rPr lang="en-US" sz="1700" dirty="0">
                <a:latin typeface="Aptos"/>
              </a:rPr>
              <a:t>-</a:t>
            </a:r>
            <a:r>
              <a:rPr sz="1700" dirty="0">
                <a:latin typeface="Aptos"/>
              </a:rPr>
              <a:t>split.</a:t>
            </a:r>
          </a:p>
          <a:p>
            <a:pPr>
              <a:spcAft>
                <a:spcPts val="700"/>
              </a:spcAft>
            </a:pPr>
            <a:endParaRPr sz="1700" dirty="0">
              <a:latin typeface="Aptos"/>
            </a:endParaRPr>
          </a:p>
          <a:p>
            <a:pPr>
              <a:spcAft>
                <a:spcPts val="700"/>
              </a:spcAft>
            </a:pPr>
            <a:r>
              <a:rPr sz="1700" dirty="0">
                <a:latin typeface="Aptos"/>
              </a:rPr>
              <a:t>MAE measures the average absolute difference between predicted and actual medals; R² measures improvement in explaining variation.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98364"/>
            <a:ext cx="10789920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2667DA"/>
                </a:solidFill>
              </a:defRPr>
            </a:pPr>
            <a:r>
              <a:rPr dirty="0"/>
              <a:t>Null baseline MAE: 6.781 medals    |    R²: −0.004</a:t>
            </a:r>
            <a:endParaRPr lang="en-US" dirty="0"/>
          </a:p>
          <a:p>
            <a:pPr>
              <a:spcAft>
                <a:spcPts val="800"/>
              </a:spcAft>
              <a:defRPr sz="2500" b="1">
                <a:solidFill>
                  <a:srgbClr val="2667DA"/>
                </a:solidFill>
              </a:defRPr>
            </a:pPr>
            <a:r>
              <a:rPr lang="en-US" dirty="0"/>
              <a:t>Null baseline with Groups MAE:  8.538    |   R²: -0.004</a:t>
            </a:r>
          </a:p>
          <a:p>
            <a:pPr>
              <a:spcAft>
                <a:spcPts val="800"/>
              </a:spcAft>
              <a:defRPr sz="2500" b="1">
                <a:solidFill>
                  <a:srgbClr val="2667DA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667DA"/>
                </a:solidFill>
              </a:defRPr>
            </a:pPr>
            <a:r>
              <a:t>MODEL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097280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2203A"/>
                </a:solidFill>
              </a:defRPr>
            </a:pPr>
            <a:r>
              <a:rPr lang="en-US" dirty="0"/>
              <a:t>Adding </a:t>
            </a:r>
            <a:r>
              <a:rPr dirty="0"/>
              <a:t>Economic </a:t>
            </a:r>
            <a:r>
              <a:rPr lang="en-US" dirty="0"/>
              <a:t>P</a:t>
            </a:r>
            <a:r>
              <a:rPr dirty="0"/>
              <a:t>redictors </a:t>
            </a:r>
            <a:r>
              <a:rPr lang="en-US" dirty="0"/>
              <a:t>Helps Improve on the Null Baseline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594360" y="1444752"/>
            <a:ext cx="10972800" cy="32004"/>
          </a:xfrm>
          <a:prstGeom prst="rect">
            <a:avLst/>
          </a:prstGeom>
          <a:solidFill>
            <a:srgbClr val="266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2203A"/>
                </a:solidFill>
              </a:defRPr>
            </a:pPr>
            <a:r>
              <a:rPr dirty="0"/>
              <a:t>Null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1920240"/>
            <a:ext cx="5642497" cy="438912"/>
          </a:xfrm>
          <a:prstGeom prst="rect">
            <a:avLst/>
          </a:prstGeom>
          <a:solidFill>
            <a:srgbClr val="83A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82977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2203A"/>
                </a:solidFill>
              </a:defRPr>
            </a:pPr>
            <a:r>
              <a:t>6.781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2203A"/>
                </a:solidFill>
              </a:defRPr>
            </a:pPr>
            <a:r>
              <a:rPr dirty="0"/>
              <a:t>Ridge: all factors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971800"/>
            <a:ext cx="3085441" cy="438912"/>
          </a:xfrm>
          <a:prstGeom prst="rect">
            <a:avLst/>
          </a:prstGeom>
          <a:solidFill>
            <a:srgbClr val="266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25921" y="29718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2203A"/>
                </a:solidFill>
              </a:defRPr>
            </a:pPr>
            <a:r>
              <a:t>3.708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9145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2203A"/>
                </a:solidFill>
              </a:defRPr>
            </a:pPr>
            <a:r>
              <a:rPr dirty="0"/>
              <a:t>Ridge: grouped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37287" y="3848011"/>
            <a:ext cx="6531490" cy="438912"/>
          </a:xfrm>
          <a:prstGeom prst="rect">
            <a:avLst/>
          </a:prstGeom>
          <a:solidFill>
            <a:srgbClr val="83A4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28497" y="4822573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2203A"/>
                </a:solidFill>
              </a:defRPr>
            </a:pPr>
            <a:r>
              <a:rPr dirty="0"/>
              <a:t>5.873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10698480" cy="594360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>
              <a:spcAft>
                <a:spcPts val="700"/>
              </a:spcAft>
            </a:pPr>
            <a:r>
              <a:rPr sz="1700" dirty="0">
                <a:latin typeface="Aptos"/>
              </a:rPr>
              <a:t>Ridge using all economic factors lowers the average prediction error from 6.781 to 3.708 medals—a 45.3% reduction. The grouped model </a:t>
            </a:r>
            <a:r>
              <a:rPr lang="en-US" sz="1700" dirty="0">
                <a:latin typeface="Aptos"/>
              </a:rPr>
              <a:t>also improves from the baseline model.</a:t>
            </a:r>
            <a:endParaRPr sz="1700" dirty="0">
              <a:latin typeface="Apto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A4AD85-CA94-F82E-F32E-0BEDFB232C89}"/>
              </a:ext>
            </a:extLst>
          </p:cNvPr>
          <p:cNvSpPr txBox="1"/>
          <p:nvPr/>
        </p:nvSpPr>
        <p:spPr>
          <a:xfrm>
            <a:off x="731520" y="3902202"/>
            <a:ext cx="292608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2203A"/>
                </a:solidFill>
              </a:defRPr>
            </a:pPr>
            <a:r>
              <a:rPr dirty="0"/>
              <a:t>Null baseline</a:t>
            </a:r>
            <a:r>
              <a:rPr lang="en-US" dirty="0"/>
              <a:t>: Grouped</a:t>
            </a:r>
            <a:endParaRPr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E73CDB-9F07-D8C1-2474-07F91E9B1BC3}"/>
              </a:ext>
            </a:extLst>
          </p:cNvPr>
          <p:cNvSpPr/>
          <p:nvPr/>
        </p:nvSpPr>
        <p:spPr>
          <a:xfrm>
            <a:off x="3637287" y="4786884"/>
            <a:ext cx="4122756" cy="438912"/>
          </a:xfrm>
          <a:prstGeom prst="rect">
            <a:avLst/>
          </a:prstGeom>
          <a:solidFill>
            <a:srgbClr val="266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555ADE-E5E9-7A64-8548-8EF8A3E8B891}"/>
              </a:ext>
            </a:extLst>
          </p:cNvPr>
          <p:cNvSpPr txBox="1"/>
          <p:nvPr/>
        </p:nvSpPr>
        <p:spPr>
          <a:xfrm>
            <a:off x="10317470" y="3865962"/>
            <a:ext cx="1371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2203A"/>
                </a:solidFill>
              </a:defRPr>
            </a:pPr>
            <a:r>
              <a:rPr lang="en-US" dirty="0"/>
              <a:t>8.538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667DA"/>
                </a:solidFill>
              </a:defRPr>
            </a:pPr>
            <a:r>
              <a:t>MODEL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097280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2203A"/>
                </a:solidFill>
              </a:defRPr>
            </a:pPr>
            <a:r>
              <a:rPr dirty="0"/>
              <a:t>Comparing our </a:t>
            </a:r>
            <a:r>
              <a:rPr lang="en-US" dirty="0"/>
              <a:t>R</a:t>
            </a:r>
            <a:r>
              <a:rPr dirty="0"/>
              <a:t>egression </a:t>
            </a:r>
            <a:r>
              <a:rPr lang="en-US" dirty="0"/>
              <a:t>M</a:t>
            </a:r>
            <a:r>
              <a:rPr dirty="0"/>
              <a:t>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444752"/>
            <a:ext cx="10972800" cy="32004"/>
          </a:xfrm>
          <a:prstGeom prst="rect">
            <a:avLst/>
          </a:prstGeom>
          <a:solidFill>
            <a:srgbClr val="266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1051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203A"/>
                </a:solidFill>
              </a:defRPr>
            </a:pPr>
            <a:r>
              <a:t>Null mean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1810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203A"/>
                </a:solidFill>
              </a:defRPr>
            </a:pPr>
            <a:r>
              <a:t>-0.004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21240" y="181051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203A"/>
                </a:solidFill>
              </a:defRPr>
            </a:pPr>
            <a:r>
              <a:t>6.781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2203A"/>
                </a:solidFill>
              </a:defRPr>
            </a:pPr>
            <a:r>
              <a:t>Ridge: all economic factors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377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2203A"/>
                </a:solidFill>
              </a:defRPr>
            </a:pPr>
            <a:r>
              <a:t>0.673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2377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2203A"/>
                </a:solidFill>
              </a:defRPr>
            </a:pPr>
            <a:r>
              <a:t>3.708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4436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203A"/>
                </a:solidFill>
              </a:defRPr>
            </a:pPr>
            <a:r>
              <a:t>Random forest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94436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203A"/>
                </a:solidFill>
              </a:defRPr>
            </a:pPr>
            <a:r>
              <a:t>0.481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9443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203A"/>
                </a:solidFill>
              </a:defRPr>
            </a:pPr>
            <a:r>
              <a:t>4.367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511296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203A"/>
                </a:solidFill>
              </a:defRPr>
            </a:pPr>
            <a:r>
              <a:t>Decision tree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51129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203A"/>
                </a:solidFill>
              </a:defRPr>
            </a:pPr>
            <a:r>
              <a:t>0.319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351129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203A"/>
                </a:solidFill>
              </a:defRPr>
            </a:pPr>
            <a:r>
              <a:t>4.181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07822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203A"/>
                </a:solidFill>
              </a:defRPr>
            </a:pPr>
            <a:r>
              <a:t>XGBoost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4078224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203A"/>
                </a:solidFill>
              </a:defRPr>
            </a:pPr>
            <a:r>
              <a:t>0.300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407822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203A"/>
                </a:solidFill>
              </a:defRPr>
            </a:pPr>
            <a:r>
              <a:t>4.560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64515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203A"/>
                </a:solidFill>
              </a:defRPr>
            </a:pPr>
            <a:r>
              <a:t>Ridge: grouped, no GDP/population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464515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203A"/>
                </a:solidFill>
              </a:defRPr>
            </a:pPr>
            <a:r>
              <a:t>0.171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464515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2203A"/>
                </a:solidFill>
              </a:defRPr>
            </a:pPr>
            <a:r>
              <a:t>5.873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15087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667DA"/>
                </a:solidFill>
              </a:defRPr>
            </a:pPr>
            <a:r>
              <a:t>R²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15087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667DA"/>
                </a:solidFill>
              </a:defRPr>
            </a:pPr>
            <a:r>
              <a:t>MAE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06440"/>
            <a:ext cx="10515600" cy="457200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latin typeface="Aptos"/>
              </a:rPr>
              <a:t>Ridge with all economic factors leads on both metrics (R² = 0.673; MAE = 3.708). The grouped model trails the baseline improvement, suggesting GDP and population contain substantial predictive information.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667DA"/>
                </a:solidFill>
              </a:defRPr>
            </a:pPr>
            <a:r>
              <a:t>MODEL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2203A"/>
                </a:solidFill>
              </a:defRPr>
            </a:pPr>
            <a:r>
              <a:t>Actual vs. predicted medal totals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444752"/>
            <a:ext cx="10972800" cy="32004"/>
          </a:xfrm>
          <a:prstGeom prst="rect">
            <a:avLst/>
          </a:prstGeom>
          <a:solidFill>
            <a:srgbClr val="266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actual_chart_57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431" y="1645920"/>
            <a:ext cx="5394177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82712" y="1993392"/>
            <a:ext cx="32369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2203A"/>
                </a:solidFill>
              </a:defRPr>
            </a:pPr>
            <a:r>
              <a:t>Interpretation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487168"/>
            <a:ext cx="3236976" cy="3370153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>
              <a:spcAft>
                <a:spcPts val="700"/>
              </a:spcAft>
            </a:pPr>
            <a:r>
              <a:rPr sz="1700" dirty="0">
                <a:latin typeface="Aptos"/>
              </a:rPr>
              <a:t>Predictions generally rise as actual medal totals rise, showing that economic conditions capture meaningful differences among countries.</a:t>
            </a:r>
            <a:r>
              <a:rPr lang="en-US" sz="1700" dirty="0">
                <a:latin typeface="Aptos"/>
              </a:rPr>
              <a:t> This chart represents group 16’s total medals.</a:t>
            </a:r>
            <a:endParaRPr sz="1700" dirty="0">
              <a:latin typeface="Aptos"/>
            </a:endParaRPr>
          </a:p>
          <a:p>
            <a:pPr>
              <a:spcAft>
                <a:spcPts val="700"/>
              </a:spcAft>
            </a:pPr>
            <a:endParaRPr sz="1700" dirty="0">
              <a:latin typeface="Aptos"/>
            </a:endParaRPr>
          </a:p>
          <a:p>
            <a:pPr>
              <a:spcAft>
                <a:spcPts val="700"/>
              </a:spcAft>
            </a:pPr>
            <a:r>
              <a:rPr sz="1700" dirty="0">
                <a:latin typeface="Aptos"/>
              </a:rPr>
              <a:t>However, predictions are less reliable for countries with exceptionally high medal totals</a:t>
            </a:r>
            <a:r>
              <a:rPr lang="en-US" sz="1700" dirty="0">
                <a:latin typeface="Aptos"/>
              </a:rPr>
              <a:t> and exceptionally low medal totals.</a:t>
            </a:r>
            <a:endParaRPr sz="1700" dirty="0">
              <a:latin typeface="Apto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667DA"/>
                </a:solidFill>
              </a:defRPr>
            </a:pPr>
            <a: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2203A"/>
                </a:solidFill>
              </a:defRPr>
            </a:pPr>
            <a:r>
              <a:t>What did we learn?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444752"/>
            <a:ext cx="10972800" cy="32004"/>
          </a:xfrm>
          <a:prstGeom prst="rect">
            <a:avLst/>
          </a:prstGeom>
          <a:solidFill>
            <a:srgbClr val="266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actual_chart_48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880" y="1783080"/>
            <a:ext cx="4909799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25512" y="1947672"/>
            <a:ext cx="37398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2203A"/>
                </a:solidFill>
              </a:defRPr>
            </a:pPr>
            <a:r>
              <a:t>Evidence from the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25512" y="2441448"/>
            <a:ext cx="3739896" cy="3291840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>
              <a:spcAft>
                <a:spcPts val="700"/>
              </a:spcAft>
            </a:pPr>
            <a:r>
              <a:rPr sz="1700" dirty="0">
                <a:latin typeface="Aptos"/>
              </a:rPr>
              <a:t>The all-factor Ridge model performs best on held-out countries (R² = 0.673; MAE = 3.708), beating the mean-only baseline (MAE = 6.781).</a:t>
            </a:r>
          </a:p>
          <a:p>
            <a:pPr>
              <a:spcAft>
                <a:spcPts val="700"/>
              </a:spcAft>
            </a:pPr>
            <a:endParaRPr sz="1700" dirty="0">
              <a:latin typeface="Aptos"/>
            </a:endParaRPr>
          </a:p>
          <a:p>
            <a:pPr>
              <a:spcAft>
                <a:spcPts val="700"/>
              </a:spcAft>
            </a:pPr>
            <a:r>
              <a:rPr sz="1700" dirty="0">
                <a:latin typeface="Aptos"/>
              </a:rPr>
              <a:t>The grouped Ridge approach without direct GDP/population predictors is weaker (R² = 0.171; MAE = 5.873). Grouping alone does not recover the predictive information lost by excluding these variables.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667DA"/>
                </a:solidFill>
              </a:defRPr>
            </a:pPr>
            <a:r>
              <a:t>LIMITATIONS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2203A"/>
                </a:solidFill>
              </a:defRPr>
            </a:pPr>
            <a:r>
              <a:t>Challenges, future work and implications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444752"/>
            <a:ext cx="10972800" cy="32004"/>
          </a:xfrm>
          <a:prstGeom prst="rect">
            <a:avLst/>
          </a:prstGeom>
          <a:solidFill>
            <a:srgbClr val="266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0392" y="1901952"/>
            <a:ext cx="4928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2203A"/>
                </a:solidFill>
              </a:defRPr>
            </a:pPr>
            <a:r>
              <a:t>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395728"/>
            <a:ext cx="4928616" cy="3154679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>
              <a:spcAft>
                <a:spcPts val="700"/>
              </a:spcAft>
            </a:pPr>
            <a:r>
              <a:rPr sz="1700">
                <a:latin typeface="Aptos"/>
              </a:rPr>
              <a:t>• Missing indicators vary across countries and years, reducing usable training data.</a:t>
            </a:r>
          </a:p>
          <a:p>
            <a:pPr>
              <a:spcAft>
                <a:spcPts val="700"/>
              </a:spcAft>
            </a:pPr>
            <a:r>
              <a:rPr sz="1700">
                <a:latin typeface="Aptos"/>
              </a:rPr>
              <a:t>• Medal totals are highly skewed: a small number of countries win many medals.</a:t>
            </a:r>
          </a:p>
          <a:p>
            <a:pPr>
              <a:spcAft>
                <a:spcPts val="700"/>
              </a:spcAft>
            </a:pPr>
            <a:r>
              <a:rPr sz="1700">
                <a:latin typeface="Aptos"/>
              </a:rPr>
              <a:t>• GDP and population can overshadow weaker relationships with other indicators.</a:t>
            </a:r>
          </a:p>
          <a:p>
            <a:pPr>
              <a:spcAft>
                <a:spcPts val="700"/>
              </a:spcAft>
            </a:pPr>
            <a:r>
              <a:rPr sz="1700">
                <a:latin typeface="Aptos"/>
              </a:rPr>
              <a:t>• Correlations describe associations, not proof that economic policy causes medals.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901952"/>
            <a:ext cx="4928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2203A"/>
                </a:solidFill>
              </a:defRPr>
            </a:pPr>
            <a: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6792" y="2395728"/>
            <a:ext cx="4928616" cy="3377848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>
              <a:spcAft>
                <a:spcPts val="700"/>
              </a:spcAft>
            </a:pPr>
            <a:r>
              <a:rPr sz="1700" dirty="0">
                <a:latin typeface="Aptos"/>
              </a:rPr>
              <a:t>• Validate across multiple Olympic years to test whether results generalize over time.</a:t>
            </a:r>
          </a:p>
          <a:p>
            <a:pPr>
              <a:spcAft>
                <a:spcPts val="700"/>
              </a:spcAft>
            </a:pPr>
            <a:r>
              <a:rPr sz="1700" dirty="0">
                <a:latin typeface="Aptos"/>
              </a:rPr>
              <a:t>• Tune hyperparameters and compare models using consistent cross-validation.</a:t>
            </a:r>
          </a:p>
          <a:p>
            <a:pPr>
              <a:spcAft>
                <a:spcPts val="700"/>
              </a:spcAft>
            </a:pPr>
            <a:r>
              <a:rPr sz="1700" dirty="0">
                <a:latin typeface="Aptos"/>
              </a:rPr>
              <a:t>• Analyze medals per athlete alongside total</a:t>
            </a:r>
            <a:r>
              <a:rPr lang="en-US" sz="1700" dirty="0">
                <a:latin typeface="Aptos"/>
              </a:rPr>
              <a:t> participation per population.</a:t>
            </a:r>
            <a:endParaRPr sz="1700" dirty="0">
              <a:latin typeface="Aptos"/>
            </a:endParaRPr>
          </a:p>
          <a:p>
            <a:pPr>
              <a:spcAft>
                <a:spcPts val="700"/>
              </a:spcAft>
            </a:pPr>
            <a:r>
              <a:rPr sz="1700" dirty="0">
                <a:latin typeface="Aptos"/>
              </a:rPr>
              <a:t>• Examine prediction errors by country size and income group to identify systematic bias.</a:t>
            </a:r>
            <a:endParaRPr lang="en-US" sz="1700" dirty="0">
              <a:latin typeface="Aptos"/>
            </a:endParaRPr>
          </a:p>
          <a:p>
            <a:pPr>
              <a:spcAft>
                <a:spcPts val="700"/>
              </a:spcAft>
            </a:pPr>
            <a:r>
              <a:rPr lang="en-US" sz="1700" dirty="0">
                <a:latin typeface="Aptos"/>
              </a:rPr>
              <a:t>• Tune grouped models to better analyze individual economic factors within groups</a:t>
            </a:r>
          </a:p>
          <a:p>
            <a:pPr>
              <a:spcAft>
                <a:spcPts val="700"/>
              </a:spcAft>
            </a:pPr>
            <a:endParaRPr sz="1700" dirty="0">
              <a:latin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667DA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2203A"/>
                </a:solidFill>
              </a:defRPr>
            </a:pPr>
            <a:r>
              <a:t>Economic conditions help explain Olympic success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444752"/>
            <a:ext cx="10972800" cy="32004"/>
          </a:xfrm>
          <a:prstGeom prst="rect">
            <a:avLst/>
          </a:prstGeom>
          <a:solidFill>
            <a:srgbClr val="266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947672"/>
            <a:ext cx="103692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2203A"/>
                </a:solidFill>
              </a:defRPr>
            </a:pPr>
            <a:r>
              <a:rPr dirty="0"/>
              <a:t>Main </a:t>
            </a:r>
            <a:r>
              <a:rPr lang="en-US" dirty="0"/>
              <a:t>T</a:t>
            </a:r>
            <a:r>
              <a:rPr dirty="0"/>
              <a:t>akeaway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41448"/>
            <a:ext cx="10369296" cy="1538883"/>
          </a:xfrm>
          <a:prstGeom prst="rect">
            <a:avLst/>
          </a:prstGeom>
          <a:noFill/>
        </p:spPr>
        <p:txBody>
          <a:bodyPr wrap="square" lIns="38100" tIns="25400" rIns="38100" bIns="25400">
            <a:spAutoFit/>
          </a:bodyPr>
          <a:lstStyle/>
          <a:p>
            <a:pPr>
              <a:spcAft>
                <a:spcPts val="700"/>
              </a:spcAft>
            </a:pPr>
            <a:r>
              <a:rPr sz="1700" dirty="0">
                <a:latin typeface="Aptos"/>
              </a:rPr>
              <a:t>Economic indicators help predict national Olympic medal totals. Our strongest model—Ridge regression using the full economic feature set—achieves MAE 3.708, compared with 6.781 for a mean-only baseline.</a:t>
            </a:r>
          </a:p>
          <a:p>
            <a:pPr>
              <a:spcAft>
                <a:spcPts val="700"/>
              </a:spcAft>
            </a:pPr>
            <a:endParaRPr sz="1700" dirty="0">
              <a:latin typeface="Aptos"/>
            </a:endParaRPr>
          </a:p>
          <a:p>
            <a:pPr>
              <a:spcAft>
                <a:spcPts val="700"/>
              </a:spcAft>
            </a:pPr>
            <a:r>
              <a:rPr sz="1700" dirty="0">
                <a:latin typeface="Aptos"/>
              </a:rPr>
              <a:t>GDP and population are informative, but differences within similarly sized and wealthy country groups suggest that additional factors and sporting context deserve further study.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4454611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2667DA"/>
                </a:solidFill>
              </a:defRPr>
            </a:pPr>
            <a:r>
              <a:rPr dirty="0"/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597</Words>
  <Application>Microsoft Macintosh PowerPoint</Application>
  <PresentationFormat>Widescreen</PresentationFormat>
  <Paragraphs>78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Ethan Westfall</cp:lastModifiedBy>
  <cp:revision>2</cp:revision>
  <dcterms:created xsi:type="dcterms:W3CDTF">2013-01-27T09:14:16Z</dcterms:created>
  <dcterms:modified xsi:type="dcterms:W3CDTF">2026-10-20T20:12:45Z</dcterms:modified>
  <cp:category/>
</cp:coreProperties>
</file>