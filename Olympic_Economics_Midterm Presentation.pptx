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 snapToObjects="1">
      <p:cViewPr varScale="1">
        <p:scale>
          <a:sx n="104" d="100"/>
          <a:sy n="104" d="100"/>
        </p:scale>
        <p:origin x="8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original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667DA"/>
                </a:solidFill>
              </a:defRPr>
            </a:pPr>
            <a: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203A"/>
                </a:solidFill>
              </a:defRPr>
            </a:pPr>
            <a:r>
              <a:t>What does a null baseline predict?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32004"/>
          </a:xfrm>
          <a:prstGeom prst="rect">
            <a:avLst/>
          </a:prstGeom>
          <a:solidFill>
            <a:srgbClr val="26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4937760" cy="32004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01952"/>
            <a:ext cx="4517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203A"/>
                </a:solidFill>
              </a:defRPr>
            </a:pPr>
            <a:r>
              <a:t>Null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95728"/>
            <a:ext cx="4517136" cy="2323713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The null model predicts the mean</a:t>
            </a:r>
            <a:r>
              <a:rPr lang="en-US" sz="1700" dirty="0">
                <a:latin typeface="Aptos"/>
              </a:rPr>
              <a:t> of the training sets</a:t>
            </a:r>
            <a:r>
              <a:rPr sz="1700" dirty="0">
                <a:latin typeface="Aptos"/>
              </a:rPr>
              <a:t> medal count for every country, regardless of its population, wealth</a:t>
            </a:r>
            <a:r>
              <a:rPr lang="en-US" sz="1700" dirty="0">
                <a:latin typeface="Aptos"/>
              </a:rPr>
              <a:t> (GDP)</a:t>
            </a:r>
            <a:r>
              <a:rPr sz="1700" dirty="0">
                <a:latin typeface="Aptos"/>
              </a:rPr>
              <a:t>, athlete participation</a:t>
            </a:r>
            <a:r>
              <a:rPr lang="en-US" sz="1700" dirty="0">
                <a:latin typeface="Aptos"/>
              </a:rPr>
              <a:t>, health expenditure, etc.</a:t>
            </a:r>
            <a:endParaRPr sz="1700" dirty="0">
              <a:latin typeface="Aptos"/>
            </a:endParaRPr>
          </a:p>
          <a:p>
            <a:pPr>
              <a:spcAft>
                <a:spcPts val="700"/>
              </a:spcAft>
            </a:pPr>
            <a:endParaRPr sz="1700" dirty="0">
              <a:latin typeface="Aptos"/>
            </a:endParaRPr>
          </a:p>
          <a:p>
            <a:pPr>
              <a:spcAft>
                <a:spcPts val="700"/>
              </a:spcAft>
            </a:pPr>
            <a:r>
              <a:rPr lang="en-US" sz="1700" dirty="0">
                <a:latin typeface="Aptos"/>
              </a:rPr>
              <a:t>The null model provide </a:t>
            </a:r>
            <a:r>
              <a:rPr sz="1700" dirty="0">
                <a:latin typeface="Aptos"/>
              </a:rPr>
              <a:t>a reference for judging whether economic predictors add value</a:t>
            </a:r>
            <a:r>
              <a:rPr lang="en-US" sz="1700" dirty="0">
                <a:latin typeface="Aptos"/>
              </a:rPr>
              <a:t> to the test model.</a:t>
            </a:r>
            <a:endParaRPr sz="1700" dirty="0"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60720" y="1737360"/>
            <a:ext cx="5669280" cy="32004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71032" y="1901952"/>
            <a:ext cx="5248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203A"/>
                </a:solidFill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1032" y="2395728"/>
            <a:ext cx="5248656" cy="1800493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We evaluate all models on countries</a:t>
            </a:r>
            <a:r>
              <a:rPr lang="en-US" sz="1700" dirty="0">
                <a:latin typeface="Aptos"/>
              </a:rPr>
              <a:t> withing the groups and without the groups</a:t>
            </a:r>
            <a:r>
              <a:rPr sz="1700" dirty="0">
                <a:latin typeface="Aptos"/>
              </a:rPr>
              <a:t> using the same test</a:t>
            </a:r>
            <a:r>
              <a:rPr lang="en-US" sz="1700" dirty="0">
                <a:latin typeface="Aptos"/>
              </a:rPr>
              <a:t>-</a:t>
            </a:r>
            <a:r>
              <a:rPr sz="1700" dirty="0">
                <a:latin typeface="Aptos"/>
              </a:rPr>
              <a:t>split.</a:t>
            </a:r>
          </a:p>
          <a:p>
            <a:pPr>
              <a:spcAft>
                <a:spcPts val="700"/>
              </a:spcAft>
            </a:pPr>
            <a:endParaRPr sz="1700" dirty="0">
              <a:latin typeface="Aptos"/>
            </a:endParaRPr>
          </a:p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MAE measures the average absolute difference between predicted and actual medals; R² measures improvement in explaining variation.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98364"/>
            <a:ext cx="10789920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2667DA"/>
                </a:solidFill>
              </a:defRPr>
            </a:pPr>
            <a:r>
              <a:rPr dirty="0"/>
              <a:t>Null baseline MAE: 6.781 medals    |    R²: −0.004</a:t>
            </a:r>
            <a:endParaRPr lang="en-US" dirty="0"/>
          </a:p>
          <a:p>
            <a:pPr>
              <a:spcAft>
                <a:spcPts val="800"/>
              </a:spcAft>
              <a:defRPr sz="2500" b="1">
                <a:solidFill>
                  <a:srgbClr val="2667DA"/>
                </a:solidFill>
              </a:defRPr>
            </a:pPr>
            <a:r>
              <a:rPr lang="en-US" dirty="0"/>
              <a:t>Null baseline with Groups MAE:  8.538    |   R²: -0.004</a:t>
            </a:r>
          </a:p>
          <a:p>
            <a:pPr>
              <a:spcAft>
                <a:spcPts val="800"/>
              </a:spcAft>
              <a:defRPr sz="2500" b="1">
                <a:solidFill>
                  <a:srgbClr val="2667DA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667DA"/>
                </a:solidFill>
              </a:defRPr>
            </a:pPr>
            <a: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203A"/>
                </a:solidFill>
              </a:defRPr>
            </a:pPr>
            <a:r>
              <a:rPr lang="en-US" dirty="0"/>
              <a:t>Adding </a:t>
            </a:r>
            <a:r>
              <a:rPr dirty="0"/>
              <a:t>Economic </a:t>
            </a:r>
            <a:r>
              <a:rPr lang="en-US" dirty="0"/>
              <a:t>P</a:t>
            </a:r>
            <a:r>
              <a:rPr dirty="0"/>
              <a:t>redictors </a:t>
            </a:r>
            <a:r>
              <a:rPr lang="en-US" dirty="0"/>
              <a:t>Helps Improve on the Null Baseline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32004"/>
          </a:xfrm>
          <a:prstGeom prst="rect">
            <a:avLst/>
          </a:prstGeom>
          <a:solidFill>
            <a:srgbClr val="26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203A"/>
                </a:solidFill>
              </a:defRPr>
            </a:pPr>
            <a:r>
              <a:rPr dirty="0"/>
              <a:t>Null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920240"/>
            <a:ext cx="5642497" cy="438912"/>
          </a:xfrm>
          <a:prstGeom prst="rect">
            <a:avLst/>
          </a:prstGeom>
          <a:solidFill>
            <a:srgbClr val="83A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82977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</a:defRPr>
            </a:pPr>
            <a:r>
              <a:t>6.781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203A"/>
                </a:solidFill>
              </a:defRPr>
            </a:pPr>
            <a:r>
              <a:rPr dirty="0"/>
              <a:t>Ridge: all factors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971800"/>
            <a:ext cx="3085441" cy="438912"/>
          </a:xfrm>
          <a:prstGeom prst="rect">
            <a:avLst/>
          </a:prstGeom>
          <a:solidFill>
            <a:srgbClr val="26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25921" y="2971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</a:defRPr>
            </a:pPr>
            <a:r>
              <a:t>3.708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914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203A"/>
                </a:solidFill>
              </a:defRPr>
            </a:pPr>
            <a:r>
              <a:rPr dirty="0"/>
              <a:t>Ridge: grouped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7287" y="3848011"/>
            <a:ext cx="6531490" cy="438912"/>
          </a:xfrm>
          <a:prstGeom prst="rect">
            <a:avLst/>
          </a:prstGeom>
          <a:solidFill>
            <a:srgbClr val="83A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8497" y="4822573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</a:defRPr>
            </a:pPr>
            <a:r>
              <a:rPr dirty="0"/>
              <a:t>5.873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Ridge using all economic factors lowers the average prediction error from 6.781 to 3.708 medals—a 45.3% reduction. The grouped model </a:t>
            </a:r>
            <a:r>
              <a:rPr lang="en-US" sz="1700" dirty="0">
                <a:latin typeface="Aptos"/>
              </a:rPr>
              <a:t>also improves from the baseline model.</a:t>
            </a:r>
            <a:endParaRPr sz="1700" dirty="0"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A4AD85-CA94-F82E-F32E-0BEDFB232C89}"/>
              </a:ext>
            </a:extLst>
          </p:cNvPr>
          <p:cNvSpPr txBox="1"/>
          <p:nvPr/>
        </p:nvSpPr>
        <p:spPr>
          <a:xfrm>
            <a:off x="731520" y="3902202"/>
            <a:ext cx="29260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203A"/>
                </a:solidFill>
              </a:defRPr>
            </a:pPr>
            <a:r>
              <a:rPr dirty="0"/>
              <a:t>Null baseline</a:t>
            </a:r>
            <a:r>
              <a:rPr lang="en-US" dirty="0"/>
              <a:t>: Grouped</a:t>
            </a:r>
            <a:endParaRPr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E73CDB-9F07-D8C1-2474-07F91E9B1BC3}"/>
              </a:ext>
            </a:extLst>
          </p:cNvPr>
          <p:cNvSpPr/>
          <p:nvPr/>
        </p:nvSpPr>
        <p:spPr>
          <a:xfrm>
            <a:off x="3637287" y="4786884"/>
            <a:ext cx="4122756" cy="438912"/>
          </a:xfrm>
          <a:prstGeom prst="rect">
            <a:avLst/>
          </a:prstGeom>
          <a:solidFill>
            <a:srgbClr val="26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555ADE-E5E9-7A64-8548-8EF8A3E8B891}"/>
              </a:ext>
            </a:extLst>
          </p:cNvPr>
          <p:cNvSpPr txBox="1"/>
          <p:nvPr/>
        </p:nvSpPr>
        <p:spPr>
          <a:xfrm>
            <a:off x="10317470" y="3865962"/>
            <a:ext cx="137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203A"/>
                </a:solidFill>
              </a:defRPr>
            </a:pPr>
            <a:r>
              <a:rPr lang="en-US" dirty="0"/>
              <a:t>8.538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667DA"/>
                </a:solidFill>
              </a:defRPr>
            </a:pPr>
            <a: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203A"/>
                </a:solidFill>
              </a:defRPr>
            </a:pPr>
            <a:r>
              <a:rPr dirty="0"/>
              <a:t>Comparing our </a:t>
            </a:r>
            <a:r>
              <a:rPr lang="en-US" dirty="0"/>
              <a:t>R</a:t>
            </a:r>
            <a:r>
              <a:rPr dirty="0"/>
              <a:t>egression </a:t>
            </a:r>
            <a:r>
              <a:rPr lang="en-US" dirty="0"/>
              <a:t>M</a:t>
            </a:r>
            <a:r>
              <a:rPr dirty="0"/>
              <a:t>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32004"/>
          </a:xfrm>
          <a:prstGeom prst="rect">
            <a:avLst/>
          </a:prstGeom>
          <a:solidFill>
            <a:srgbClr val="26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Null 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8105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-0.004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1810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6.781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</a:defRPr>
            </a:pPr>
            <a:r>
              <a:t>Ridge: all economic factors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</a:defRPr>
            </a:pPr>
            <a:r>
              <a:t>0.673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203A"/>
                </a:solidFill>
              </a:defRPr>
            </a:pPr>
            <a:r>
              <a:t>3.708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443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9443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0.481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29443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4.367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Decision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5112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0.319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35112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4.181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782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07822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0.300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40782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4.560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451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Ridge: grouped, no GDP/population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6451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0.171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4645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203A"/>
                </a:solidFill>
              </a:defRPr>
            </a:pPr>
            <a:r>
              <a:t>5.873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1508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667DA"/>
                </a:solidFill>
              </a:defRPr>
            </a:pPr>
            <a:r>
              <a:t>R²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1508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667DA"/>
                </a:solidFill>
              </a:defRPr>
            </a:pPr>
            <a:r>
              <a:t>MAE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06440"/>
            <a:ext cx="10515600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Ridge with all economic factors leads on both metrics (R² = 0.673; MAE = 3.708). The grouped model trails the baseline improvement, suggesting GDP and population contain substantial predictive information.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667DA"/>
                </a:solidFill>
              </a:defRPr>
            </a:pPr>
            <a:r>
              <a:t>MODEL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203A"/>
                </a:solidFill>
              </a:defRPr>
            </a:pPr>
            <a:r>
              <a:t>Actual vs. predicted medal totals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32004"/>
          </a:xfrm>
          <a:prstGeom prst="rect">
            <a:avLst/>
          </a:prstGeom>
          <a:solidFill>
            <a:srgbClr val="26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ctual_chart_5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1" y="1645920"/>
            <a:ext cx="5394177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82712" y="1993392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203A"/>
                </a:solidFill>
              </a:defRPr>
            </a:pPr>
            <a: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2712" y="2487168"/>
            <a:ext cx="3236976" cy="3370153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Predictions generally rise as actual medal totals rise, showing that economic conditions capture meaningful differences among countries.</a:t>
            </a:r>
            <a:r>
              <a:rPr lang="en-US" sz="1700" dirty="0">
                <a:latin typeface="Aptos"/>
              </a:rPr>
              <a:t> This chart represents group 16’s total medals.</a:t>
            </a:r>
            <a:endParaRPr sz="1700" dirty="0">
              <a:latin typeface="Aptos"/>
            </a:endParaRPr>
          </a:p>
          <a:p>
            <a:pPr>
              <a:spcAft>
                <a:spcPts val="700"/>
              </a:spcAft>
            </a:pPr>
            <a:endParaRPr sz="1700" dirty="0">
              <a:latin typeface="Aptos"/>
            </a:endParaRPr>
          </a:p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However, predictions are less reliable for countries with exceptionally high medal totals</a:t>
            </a:r>
            <a:r>
              <a:rPr lang="en-US" sz="1700" dirty="0">
                <a:latin typeface="Aptos"/>
              </a:rPr>
              <a:t> and exceptionally low medal totals.</a:t>
            </a:r>
            <a:endParaRPr sz="1700" dirty="0"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667DA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203A"/>
                </a:solidFill>
              </a:defRPr>
            </a:pPr>
            <a:r>
              <a:t>What did we learn?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32004"/>
          </a:xfrm>
          <a:prstGeom prst="rect">
            <a:avLst/>
          </a:prstGeom>
          <a:solidFill>
            <a:srgbClr val="26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ctual_chart_4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880" y="1783080"/>
            <a:ext cx="4909799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5512" y="1947672"/>
            <a:ext cx="3739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203A"/>
                </a:solidFill>
              </a:defRPr>
            </a:pPr>
            <a:r>
              <a:t>Evidence from the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5512" y="2441448"/>
            <a:ext cx="3739896" cy="32918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The all-factor Ridge model performs best on held-out countries (R² = 0.673; MAE = 3.708), beating the mean-only baseline (MAE = 6.781).</a:t>
            </a:r>
          </a:p>
          <a:p>
            <a:pPr>
              <a:spcAft>
                <a:spcPts val="700"/>
              </a:spcAft>
            </a:pPr>
            <a:endParaRPr sz="1700" dirty="0">
              <a:latin typeface="Aptos"/>
            </a:endParaRPr>
          </a:p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The grouped Ridge approach without direct GDP/population predictors is weaker (R² = 0.171; MAE = 5.873). Grouping alone does not recover the predictive information lost by excluding these variables.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667DA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203A"/>
                </a:solidFill>
              </a:defRPr>
            </a:pPr>
            <a:r>
              <a:t>Challenges, future work and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32004"/>
          </a:xfrm>
          <a:prstGeom prst="rect">
            <a:avLst/>
          </a:prstGeom>
          <a:solidFill>
            <a:srgbClr val="26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0195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203A"/>
                </a:solidFill>
              </a:defRPr>
            </a:pPr>
            <a: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95728"/>
            <a:ext cx="4928616" cy="3154679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latin typeface="Aptos"/>
              </a:rPr>
              <a:t>• Missing indicators vary across countries and years, reducing usable training data.</a:t>
            </a:r>
          </a:p>
          <a:p>
            <a:pPr>
              <a:spcAft>
                <a:spcPts val="700"/>
              </a:spcAft>
            </a:pPr>
            <a:r>
              <a:rPr sz="1700">
                <a:latin typeface="Aptos"/>
              </a:rPr>
              <a:t>• Medal totals are highly skewed: a small number of countries win many medals.</a:t>
            </a:r>
          </a:p>
          <a:p>
            <a:pPr>
              <a:spcAft>
                <a:spcPts val="700"/>
              </a:spcAft>
            </a:pPr>
            <a:r>
              <a:rPr sz="1700">
                <a:latin typeface="Aptos"/>
              </a:rPr>
              <a:t>• GDP and population can overshadow weaker relationships with other indicators.</a:t>
            </a:r>
          </a:p>
          <a:p>
            <a:pPr>
              <a:spcAft>
                <a:spcPts val="700"/>
              </a:spcAft>
            </a:pPr>
            <a:r>
              <a:rPr sz="1700">
                <a:latin typeface="Aptos"/>
              </a:rPr>
              <a:t>• Correlations describe associations, not proof that economic policy causes medals.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901952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203A"/>
                </a:solidFill>
              </a:defRPr>
            </a:pPr>
            <a: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2395728"/>
            <a:ext cx="4928616" cy="337784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• Validate across multiple Olympic years to test whether results generalize over time.</a:t>
            </a:r>
          </a:p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• Tune hyperparameters and compare models using consistent cross-validation.</a:t>
            </a:r>
          </a:p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• Analyze medals per athlete alongside total</a:t>
            </a:r>
            <a:r>
              <a:rPr lang="en-US" sz="1700" dirty="0">
                <a:latin typeface="Aptos"/>
              </a:rPr>
              <a:t> participation per population.</a:t>
            </a:r>
            <a:endParaRPr sz="1700" dirty="0">
              <a:latin typeface="Aptos"/>
            </a:endParaRPr>
          </a:p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• Examine prediction errors by country size and income group to identify systematic bias.</a:t>
            </a:r>
            <a:endParaRPr lang="en-US" sz="1700" dirty="0">
              <a:latin typeface="Aptos"/>
            </a:endParaRPr>
          </a:p>
          <a:p>
            <a:pPr>
              <a:spcAft>
                <a:spcPts val="700"/>
              </a:spcAft>
            </a:pPr>
            <a:r>
              <a:rPr lang="en-US" sz="1700" dirty="0">
                <a:latin typeface="Aptos"/>
              </a:rPr>
              <a:t>• Tune grouped models to better analyze individual economic factors within groups</a:t>
            </a:r>
          </a:p>
          <a:p>
            <a:pPr>
              <a:spcAft>
                <a:spcPts val="700"/>
              </a:spcAft>
            </a:pPr>
            <a:endParaRPr sz="1700" dirty="0"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667D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203A"/>
                </a:solidFill>
              </a:defRPr>
            </a:pPr>
            <a:r>
              <a:t>Economic conditions help explain Olympic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32004"/>
          </a:xfrm>
          <a:prstGeom prst="rect">
            <a:avLst/>
          </a:prstGeom>
          <a:solidFill>
            <a:srgbClr val="26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10369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203A"/>
                </a:solidFill>
              </a:defRPr>
            </a:pPr>
            <a:r>
              <a:rPr dirty="0"/>
              <a:t>Main </a:t>
            </a:r>
            <a:r>
              <a:rPr lang="en-US" dirty="0"/>
              <a:t>T</a:t>
            </a:r>
            <a:r>
              <a:rPr dirty="0"/>
              <a:t>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41448"/>
            <a:ext cx="10369296" cy="1538883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Economic indicators help predict national Olympic medal totals. Our strongest model—Ridge regression using the full economic feature set—achieves MAE 3.708, compared with 6.781 for a mean-only baseline.</a:t>
            </a:r>
          </a:p>
          <a:p>
            <a:pPr>
              <a:spcAft>
                <a:spcPts val="700"/>
              </a:spcAft>
            </a:pPr>
            <a:endParaRPr sz="1700" dirty="0">
              <a:latin typeface="Aptos"/>
            </a:endParaRPr>
          </a:p>
          <a:p>
            <a:pPr>
              <a:spcAft>
                <a:spcPts val="700"/>
              </a:spcAft>
            </a:pPr>
            <a:r>
              <a:rPr sz="1700" dirty="0">
                <a:latin typeface="Aptos"/>
              </a:rPr>
              <a:t>GDP and population are informative, but differences within similarly sized and wealthy country groups suggest that additional factors and sporting context deserve further study.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454611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667DA"/>
                </a:solidFill>
              </a:defRPr>
            </a:pPr>
            <a:r>
              <a:rPr dirty="0"/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597</Words>
  <Application>Microsoft Macintosh PowerPoint</Application>
  <PresentationFormat>Widescreen</PresentationFormat>
  <Paragraphs>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Ethan Westfall</cp:lastModifiedBy>
  <cp:revision>2</cp:revision>
  <dcterms:created xsi:type="dcterms:W3CDTF">2013-01-27T09:14:16Z</dcterms:created>
  <dcterms:modified xsi:type="dcterms:W3CDTF">2026-10-20T20:12:45Z</dcterms:modified>
  <cp:category/>
</cp:coreProperties>
</file>