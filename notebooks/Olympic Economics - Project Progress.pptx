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Plus Jakarta Sans"/>
      <p:regular r:id="rId22"/>
      <p:bold r:id="rId23"/>
      <p:italic r:id="rId24"/>
      <p:boldItalic r:id="rId25"/>
    </p:embeddedFont>
    <p:embeddedFont>
      <p:font typeface="Space Grotesk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lusJakartaSans-regular.fntdata"/><Relationship Id="rId21" Type="http://schemas.openxmlformats.org/officeDocument/2006/relationships/slide" Target="slides/slide16.xml"/><Relationship Id="rId24" Type="http://schemas.openxmlformats.org/officeDocument/2006/relationships/font" Target="fonts/PlusJakartaSans-italic.fntdata"/><Relationship Id="rId23" Type="http://schemas.openxmlformats.org/officeDocument/2006/relationships/font" Target="fonts/PlusJakarta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paceGrotesk-regular.fntdata"/><Relationship Id="rId25" Type="http://schemas.openxmlformats.org/officeDocument/2006/relationships/font" Target="fonts/PlusJakartaSans-boldItalic.fntdata"/><Relationship Id="rId27" Type="http://schemas.openxmlformats.org/officeDocument/2006/relationships/font" Target="fonts/SpaceGrotes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460527"/>
            <a:ext cx="6477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4460527"/>
            <a:ext cx="64770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2900" y="1619250"/>
            <a:ext cx="36195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39150" y="2095500"/>
            <a:ext cx="26670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609600" y="1778347"/>
            <a:ext cx="809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IST 707 • PROJECT PROGRESS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09600" y="2140297"/>
            <a:ext cx="6900862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Can Economic Conditions Explain Olympic Success?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3508027"/>
            <a:ext cx="6572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Predicting national medal outcomes beyond GDP &amp; population using World Development Indicators.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4698652"/>
            <a:ext cx="192881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SCOPE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09600" y="4879627"/>
            <a:ext cx="1928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1960–2016 Olympics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2457450" y="4698652"/>
            <a:ext cx="148828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INDICATORS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457450" y="4879627"/>
            <a:ext cx="14882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54 WDI Features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609600" y="2912715"/>
            <a:ext cx="3505200" cy="1819275"/>
          </a:xfrm>
          <a:prstGeom prst="roundRect">
            <a:avLst>
              <a:gd fmla="val 628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4343400" y="2912715"/>
            <a:ext cx="3505200" cy="1819275"/>
          </a:xfrm>
          <a:prstGeom prst="roundRect">
            <a:avLst>
              <a:gd fmla="val 6282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8077200" y="3019871"/>
            <a:ext cx="3505200" cy="1604962"/>
          </a:xfrm>
          <a:prstGeom prst="roundRect">
            <a:avLst>
              <a:gd fmla="val 712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25085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725" y="3250852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1525" y="335800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09600" y="381000"/>
            <a:ext cx="789384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 DEFINITION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09600" y="619125"/>
            <a:ext cx="828853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Understanding Olympic Economics Matters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190625" y="3227040"/>
            <a:ext cx="33289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Problem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23925" y="3560415"/>
            <a:ext cx="2971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Raw medal counts favor massive nations. National resources and athlete participation vary wildly, creating unequal baselines.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4972050" y="3227040"/>
            <a:ext cx="32813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Stakeholders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657725" y="3560415"/>
            <a:ext cx="29718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Sports researchers, national Olympic committees, and policymakers seeking fair comparisons of national performance.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658225" y="3334196"/>
            <a:ext cx="33289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Target Success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391525" y="3667571"/>
            <a:ext cx="29718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validated prediction benchmark uncovering true economic drivers—not just a repetitive ranking of wealthy states.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/>
          <p:nvPr/>
        </p:nvSpPr>
        <p:spPr>
          <a:xfrm>
            <a:off x="5934075" y="1243905"/>
            <a:ext cx="5648325" cy="5156894"/>
          </a:xfrm>
          <a:prstGeom prst="roundRect">
            <a:avLst>
              <a:gd fmla="val 2216" name="adj"/>
            </a:avLst>
          </a:prstGeom>
          <a:solidFill>
            <a:srgbClr val="F1F5F9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09600" y="1774477"/>
            <a:ext cx="5019675" cy="1238250"/>
          </a:xfrm>
          <a:prstGeom prst="roundRect">
            <a:avLst>
              <a:gd fmla="val 923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609600" y="3203227"/>
            <a:ext cx="5019675" cy="1238250"/>
          </a:xfrm>
          <a:prstGeom prst="roundRect">
            <a:avLst>
              <a:gd fmla="val 923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609600" y="4631977"/>
            <a:ext cx="5019675" cy="1238250"/>
          </a:xfrm>
          <a:prstGeom prst="roundRect">
            <a:avLst>
              <a:gd fmla="val 923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6248400" y="3469034"/>
            <a:ext cx="38100" cy="109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203641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7725" y="3465165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4893915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609600" y="381000"/>
            <a:ext cx="616743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CONTRIBUTION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09600" y="619125"/>
            <a:ext cx="647580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Our Unique Methodology &amp; Approach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248400" y="3078509"/>
            <a:ext cx="59436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Research Hypothesis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6438900" y="3469034"/>
            <a:ext cx="492442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"Socioeconomic investments in health and education significantly improve predictive accuracy for Olympic success over crude measures of national wealth and population size." 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114425" y="2012602"/>
            <a:ext cx="54125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Beyond Scale Basics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47725" y="2345977"/>
            <a:ext cx="46386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GDP, GDP per capita, and population serve as baselines rather than complete explanations.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114425" y="3441352"/>
            <a:ext cx="54125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Broader Economic Context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847725" y="3774727"/>
            <a:ext cx="46386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Integrating health spending, education budgets, and growth rates to capture systemic capability.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162050" y="4870102"/>
            <a:ext cx="5364956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Fairer Peer Comparisons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47725" y="5203477"/>
            <a:ext cx="46386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Evaluating medals relative to athlete participation within distinct income and population tiers.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/>
          <p:nvPr/>
        </p:nvSpPr>
        <p:spPr>
          <a:xfrm>
            <a:off x="609600" y="2910780"/>
            <a:ext cx="10972800" cy="3490019"/>
          </a:xfrm>
          <a:prstGeom prst="roundRect">
            <a:avLst>
              <a:gd fmla="val 327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609600" y="1243905"/>
            <a:ext cx="3505200" cy="1362075"/>
          </a:xfrm>
          <a:prstGeom prst="roundRect">
            <a:avLst>
              <a:gd fmla="val 839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4343400" y="1243905"/>
            <a:ext cx="3505200" cy="1362075"/>
          </a:xfrm>
          <a:prstGeom prst="roundRect">
            <a:avLst>
              <a:gd fmla="val 839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8077200" y="1243905"/>
            <a:ext cx="3505200" cy="1362075"/>
          </a:xfrm>
          <a:prstGeom prst="roundRect">
            <a:avLst>
              <a:gd fmla="val 839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3" name="Google Shape;1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3210817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609600" y="381000"/>
            <a:ext cx="5715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DATASET PROVENANCE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09600" y="619125"/>
            <a:ext cx="6000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Merged Dataset Structure &amp; Scope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133475" y="3187005"/>
            <a:ext cx="110585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 Integration Details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85825" y="3520380"/>
            <a:ext cx="11306175" cy="223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 File: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Pre-merged olympic_economics.csv joining historical IOC results with World Bank WDI series.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85825" y="3858517"/>
            <a:ext cx="1130617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Indicator Depth: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205 initial WDI series codes covering 1960–2025 economic history, bridging athlete outcomes with macroeconomic environments.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373856" y="1558230"/>
            <a:ext cx="39766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13,584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373856" y="2120205"/>
            <a:ext cx="39766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TOTAL OBSERVATIONS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4107656" y="1558230"/>
            <a:ext cx="39766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2,715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4107656" y="2120205"/>
            <a:ext cx="39766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OLYMPIC SUBSET (1960–2016)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7841456" y="1558230"/>
            <a:ext cx="397668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217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7841456" y="2120205"/>
            <a:ext cx="39766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OLYMPIC COUNTRY CODES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/>
          <p:nvPr/>
        </p:nvSpPr>
        <p:spPr>
          <a:xfrm>
            <a:off x="609600" y="2819846"/>
            <a:ext cx="3505200" cy="2005012"/>
          </a:xfrm>
          <a:prstGeom prst="roundRect">
            <a:avLst>
              <a:gd fmla="val 57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4343400" y="2819846"/>
            <a:ext cx="3505200" cy="2005012"/>
          </a:xfrm>
          <a:prstGeom prst="roundRect">
            <a:avLst>
              <a:gd fmla="val 57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8077200" y="2819846"/>
            <a:ext cx="3505200" cy="2005012"/>
          </a:xfrm>
          <a:prstGeom prst="roundRect">
            <a:avLst>
              <a:gd fmla="val 57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885825" y="3096071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4619625" y="3096071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8353425" y="3096071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BE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609600" y="381000"/>
            <a:ext cx="589359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PREPARATION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09600" y="619125"/>
            <a:ext cx="618827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Cleaning Without Discarding History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742950" y="3096071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85825" y="3591371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Coverage Threshold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85825" y="3905696"/>
            <a:ext cx="30480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Dropped 8 of 62 indicators with &lt;10% observed values, retaining 54 robust WDI metrics.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4476750" y="3096071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4619625" y="3591371"/>
            <a:ext cx="3875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Row Preservation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4619625" y="3905696"/>
            <a:ext cx="30480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Maintained all 13,584 rows. Missing economic data is tracked explicitly—never converted to zero.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210550" y="3096071"/>
            <a:ext cx="6286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8353425" y="3591371"/>
            <a:ext cx="38385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Modeling Window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8353425" y="3905696"/>
            <a:ext cx="30480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1,824 observations (1990–2016); 39 indicators have ≤50% missingness across this focus panel.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/>
          <p:nvPr/>
        </p:nvSpPr>
        <p:spPr>
          <a:xfrm>
            <a:off x="7322790" y="2381696"/>
            <a:ext cx="4259609" cy="1238250"/>
          </a:xfrm>
          <a:prstGeom prst="roundRect">
            <a:avLst>
              <a:gd fmla="val 923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7322790" y="3810446"/>
            <a:ext cx="4259609" cy="1452562"/>
          </a:xfrm>
          <a:prstGeom prst="roundRect">
            <a:avLst>
              <a:gd fmla="val 786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243905"/>
            <a:ext cx="6408390" cy="51568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1253430"/>
            <a:ext cx="6389340" cy="5137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60915" y="2643633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60915" y="4072383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609600" y="381000"/>
            <a:ext cx="486965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EXPLORATORY DATA ANALYSIS • MISSINGNESS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09600" y="619125"/>
            <a:ext cx="5113139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WDI Indicator Coverage Audit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7827615" y="2619821"/>
            <a:ext cx="43643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Missingness Audit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7560915" y="2953196"/>
            <a:ext cx="387860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Indicator and country-level missingness reveal which predictors require rigorous imputation.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7789515" y="4048571"/>
            <a:ext cx="44024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Modeling Impact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7560915" y="4381946"/>
            <a:ext cx="387860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coverage directly shapes imputation strategies and determines trustworthy baseline comparisons.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/>
          <p:nvPr/>
        </p:nvSpPr>
        <p:spPr>
          <a:xfrm>
            <a:off x="7855297" y="2274540"/>
            <a:ext cx="3727102" cy="1452562"/>
          </a:xfrm>
          <a:prstGeom prst="roundRect">
            <a:avLst>
              <a:gd fmla="val 786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7855297" y="3917602"/>
            <a:ext cx="3727102" cy="1452562"/>
          </a:xfrm>
          <a:prstGeom prst="roundRect">
            <a:avLst>
              <a:gd fmla="val 786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8" name="Google Shape;1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243905"/>
            <a:ext cx="6940897" cy="51568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1253430"/>
            <a:ext cx="6921847" cy="5137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3422" y="2536477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3422" y="417954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609600" y="381000"/>
            <a:ext cx="569118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EXPLORATORY DATA ANALYSIS • DISTRIBUTIONS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09600" y="619125"/>
            <a:ext cx="5975746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Skewed Economic Scale Indicators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8379172" y="2512665"/>
            <a:ext cx="377781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 Transformation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8093422" y="2846040"/>
            <a:ext cx="3346102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GDP, per capita GDP, and population are heavily right-skewed. Log10 scales stabilize variance for modeling.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8360122" y="4155727"/>
            <a:ext cx="379686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Health Expenditure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8093422" y="4489102"/>
            <a:ext cx="3346102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Health spending (% GDP) exhibits normal distribution characteristics without radical log transformation.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/>
          <p:nvPr/>
        </p:nvSpPr>
        <p:spPr>
          <a:xfrm>
            <a:off x="7322790" y="2381696"/>
            <a:ext cx="4259609" cy="1452562"/>
          </a:xfrm>
          <a:prstGeom prst="roundRect">
            <a:avLst>
              <a:gd fmla="val 786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7322790" y="4024758"/>
            <a:ext cx="4259609" cy="1238250"/>
          </a:xfrm>
          <a:prstGeom prst="roundRect">
            <a:avLst>
              <a:gd fmla="val 923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4" name="Google Shape;21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243905"/>
            <a:ext cx="6408390" cy="51568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1253430"/>
            <a:ext cx="6389340" cy="5137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60915" y="2643633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60915" y="4286696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609600" y="381000"/>
            <a:ext cx="688181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EXPLORATORY DATA ANALYSIS • CORRELATIONS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609600" y="619125"/>
            <a:ext cx="722590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Relationships Among Economic Predictors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7846665" y="2619821"/>
            <a:ext cx="43453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Multicollinearity Check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7560915" y="2953196"/>
            <a:ext cx="387860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Health &amp; education spending correlate significantly (r = 0.42), while GDP growth shows minimal overlap with scale metrics.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7827615" y="4262883"/>
            <a:ext cx="43643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Selection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7560915" y="4596258"/>
            <a:ext cx="387860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Mapping collinearity ensures collinear economic factors don't inflate regression variance.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/>
          <p:nvPr/>
        </p:nvSpPr>
        <p:spPr>
          <a:xfrm>
            <a:off x="7322790" y="2431702"/>
            <a:ext cx="4259609" cy="1352550"/>
          </a:xfrm>
          <a:prstGeom prst="roundRect">
            <a:avLst>
              <a:gd fmla="val 845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7322790" y="3974752"/>
            <a:ext cx="4259609" cy="1238250"/>
          </a:xfrm>
          <a:prstGeom prst="roundRect">
            <a:avLst>
              <a:gd fmla="val 923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0" name="Google Shape;2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243905"/>
            <a:ext cx="6408390" cy="51568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1253430"/>
            <a:ext cx="6389340" cy="5137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60915" y="423669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609600" y="381000"/>
            <a:ext cx="56197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EXPLORATORY DATA ANALYSIS • PARTICIPATION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09600" y="619125"/>
            <a:ext cx="5900737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Athletes Sent vs. Medal Outcomes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7560915" y="2669827"/>
            <a:ext cx="463108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D4ED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CORRELATION STRENGTH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7560915" y="2917477"/>
            <a:ext cx="4631084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 = 0.887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7560915" y="3374677"/>
            <a:ext cx="463108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Spearman ρ = 0.810 (1990+ panel)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7827615" y="4212877"/>
            <a:ext cx="4364384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Takeaway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7560915" y="4546252"/>
            <a:ext cx="387860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Delegation size heavily governs medal totals. Economic metrics must demonstrate value beyond team size.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"/>
          <p:cNvSpPr/>
          <p:nvPr/>
        </p:nvSpPr>
        <p:spPr>
          <a:xfrm>
            <a:off x="7322790" y="2381696"/>
            <a:ext cx="4259609" cy="1238250"/>
          </a:xfrm>
          <a:prstGeom prst="roundRect">
            <a:avLst>
              <a:gd fmla="val 923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7322790" y="3810446"/>
            <a:ext cx="4259609" cy="1452562"/>
          </a:xfrm>
          <a:prstGeom prst="roundRect">
            <a:avLst>
              <a:gd fmla="val 7868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6" name="Google Shape;24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243905"/>
            <a:ext cx="6408390" cy="51568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1253430"/>
            <a:ext cx="6389340" cy="51378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60915" y="2643633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60915" y="4072383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 txBox="1"/>
          <p:nvPr/>
        </p:nvSpPr>
        <p:spPr>
          <a:xfrm>
            <a:off x="609600" y="381000"/>
            <a:ext cx="6048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EXPLORATORY DATA ANALYSIS • ECONOMIC PEER GROUPS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609600" y="619125"/>
            <a:ext cx="6350793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Performance Across Economic Bands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7846665" y="2619821"/>
            <a:ext cx="43453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Peer Grouping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7560915" y="2953196"/>
            <a:ext cx="387860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Crossed population &amp; GDP-per-capita bands reveal efficiency differences in medals per athlete.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7846665" y="4048571"/>
            <a:ext cx="4345334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Within-Group Variance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7560915" y="4381946"/>
            <a:ext cx="387860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Countries with identical scale and wealth exhibit notable performance divergence, supporting our core thesis.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"/>
          <p:cNvSpPr/>
          <p:nvPr/>
        </p:nvSpPr>
        <p:spPr>
          <a:xfrm>
            <a:off x="609600" y="1759594"/>
            <a:ext cx="5372100" cy="4125515"/>
          </a:xfrm>
          <a:prstGeom prst="roundRect">
            <a:avLst>
              <a:gd fmla="val 277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6210300" y="1759594"/>
            <a:ext cx="5372100" cy="4125515"/>
          </a:xfrm>
          <a:prstGeom prst="roundRect">
            <a:avLst>
              <a:gd fmla="val 2770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2" name="Google Shape;26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269902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326990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609600" y="381000"/>
            <a:ext cx="588168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LITERATURE POSITIONING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609600" y="619125"/>
            <a:ext cx="6175771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Research Gap &amp; Benchmark Position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1190625" y="3246090"/>
            <a:ext cx="56626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Standard Literature Baseline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923925" y="3712815"/>
            <a:ext cx="4838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Traditional studies rely almost exclusively on GDP, GDP per capita, and population size as static, deterministic predictors of national medal tallies.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6810375" y="3246090"/>
            <a:ext cx="53816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Our Research Question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6524625" y="3712815"/>
            <a:ext cx="4838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 expanded World Development Indicators (health, education, investment) provide out-of-sample predictive gains over standard size &amp; wealth models?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"/>
          <p:cNvSpPr/>
          <p:nvPr/>
        </p:nvSpPr>
        <p:spPr>
          <a:xfrm>
            <a:off x="609600" y="2938908"/>
            <a:ext cx="3505200" cy="1766887"/>
          </a:xfrm>
          <a:prstGeom prst="roundRect">
            <a:avLst>
              <a:gd fmla="val 646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4343400" y="2938908"/>
            <a:ext cx="3505200" cy="1766887"/>
          </a:xfrm>
          <a:prstGeom prst="roundRect">
            <a:avLst>
              <a:gd fmla="val 6469" name="adj"/>
            </a:avLst>
          </a:prstGeom>
          <a:solidFill>
            <a:srgbClr val="FFFBEB"/>
          </a:solidFill>
          <a:ln cap="flat" cmpd="sng" w="9525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8077200" y="3046065"/>
            <a:ext cx="3505200" cy="1552575"/>
          </a:xfrm>
          <a:prstGeom prst="roundRect">
            <a:avLst>
              <a:gd fmla="val 736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 txBox="1"/>
          <p:nvPr/>
        </p:nvSpPr>
        <p:spPr>
          <a:xfrm>
            <a:off x="609600" y="381000"/>
            <a:ext cx="59531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MODELING PROGRESS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609600" y="619125"/>
            <a:ext cx="6250781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Status &amp; Planned Benchmarks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885825" y="3215133"/>
            <a:ext cx="36909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STAGE 1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885825" y="3434208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Null / Random Baseline</a:t>
            </a:r>
            <a:endParaRPr/>
          </a:p>
        </p:txBody>
      </p:sp>
      <p:sp>
        <p:nvSpPr>
          <p:cNvPr id="281" name="Google Shape;281;p24"/>
          <p:cNvSpPr txBox="1"/>
          <p:nvPr/>
        </p:nvSpPr>
        <p:spPr>
          <a:xfrm>
            <a:off x="885825" y="3786633"/>
            <a:ext cx="30480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Training-set mean and zero-medal baselines paired with a seeded random benchmark.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4619625" y="3215133"/>
            <a:ext cx="36909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B4530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STAGE 2 (CURRENT)</a:t>
            </a:r>
            <a:endParaRPr/>
          </a:p>
        </p:txBody>
      </p:sp>
      <p:sp>
        <p:nvSpPr>
          <p:cNvPr id="283" name="Google Shape;283;p24"/>
          <p:cNvSpPr txBox="1"/>
          <p:nvPr/>
        </p:nvSpPr>
        <p:spPr>
          <a:xfrm>
            <a:off x="4619625" y="3434208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835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Scale-Only Model</a:t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4619625" y="3786633"/>
            <a:ext cx="30480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240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Fitted values using log GDP and population. Preparing out-of-sample test splits.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8353425" y="3322290"/>
            <a:ext cx="3690937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STAGE 3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8353425" y="3541365"/>
            <a:ext cx="3838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Expanded WDI Model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8353425" y="3893790"/>
            <a:ext cx="3048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Multi-feature model evaluating MAE &amp; RMSE across strict time-based splits.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"/>
          <p:cNvSpPr/>
          <p:nvPr/>
        </p:nvSpPr>
        <p:spPr>
          <a:xfrm>
            <a:off x="609600" y="2469802"/>
            <a:ext cx="5372100" cy="1238250"/>
          </a:xfrm>
          <a:prstGeom prst="roundRect">
            <a:avLst>
              <a:gd fmla="val 923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6210300" y="2469802"/>
            <a:ext cx="5372100" cy="1238250"/>
          </a:xfrm>
          <a:prstGeom prst="roundRect">
            <a:avLst>
              <a:gd fmla="val 923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609600" y="3936652"/>
            <a:ext cx="5372100" cy="1238250"/>
          </a:xfrm>
          <a:prstGeom prst="roundRect">
            <a:avLst>
              <a:gd fmla="val 923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6210300" y="3936652"/>
            <a:ext cx="5372100" cy="1238250"/>
          </a:xfrm>
          <a:prstGeom prst="roundRect">
            <a:avLst>
              <a:gd fmla="val 923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6" name="Google Shape;2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2731740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48425" y="273174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419859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48425" y="4198590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5"/>
          <p:cNvSpPr txBox="1"/>
          <p:nvPr/>
        </p:nvSpPr>
        <p:spPr>
          <a:xfrm>
            <a:off x="609600" y="381000"/>
            <a:ext cx="59055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RISK MANAGEMENT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609600" y="619125"/>
            <a:ext cx="62007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Challenges Encountered &amp; Solutions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1095375" y="2707927"/>
            <a:ext cx="58721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Missing Economic Data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847725" y="3041302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Pruned indicators with &lt;10% coverage; tracked missingness explicitly rather than zero-filling.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6715125" y="2707927"/>
            <a:ext cx="5476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Heavy Skewness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6448425" y="3041302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Applied Log10 scaling to economic predictors and examined per-athlete metrics.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1114425" y="4174777"/>
            <a:ext cx="58531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Temporal Leakage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847725" y="4508152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Strictly filtered economic data to pre-Olympic periods and implemented time-aware validation splits.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6734175" y="4174777"/>
            <a:ext cx="54578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Overfitting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6448425" y="4508152"/>
            <a:ext cx="49911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Preprocessed features using training folds only to preserve authentic out-of-sample scoring.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6"/>
          <p:cNvSpPr/>
          <p:nvPr/>
        </p:nvSpPr>
        <p:spPr>
          <a:xfrm>
            <a:off x="609600" y="3188940"/>
            <a:ext cx="2628900" cy="1266825"/>
          </a:xfrm>
          <a:prstGeom prst="roundRect">
            <a:avLst>
              <a:gd fmla="val 902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3390900" y="3188940"/>
            <a:ext cx="2628900" cy="1266825"/>
          </a:xfrm>
          <a:prstGeom prst="roundRect">
            <a:avLst>
              <a:gd fmla="val 902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6172200" y="3188940"/>
            <a:ext cx="2628900" cy="1266825"/>
          </a:xfrm>
          <a:prstGeom prst="roundRect">
            <a:avLst>
              <a:gd fmla="val 902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8953500" y="3188940"/>
            <a:ext cx="2628900" cy="1266825"/>
          </a:xfrm>
          <a:prstGeom prst="roundRect">
            <a:avLst>
              <a:gd fmla="val 902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6"/>
          <p:cNvSpPr txBox="1"/>
          <p:nvPr/>
        </p:nvSpPr>
        <p:spPr>
          <a:xfrm>
            <a:off x="609600" y="381000"/>
            <a:ext cx="4953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ROADMAP</a:t>
            </a:r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609600" y="619125"/>
            <a:ext cx="52006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Roadmap to Final Presentation</a:t>
            </a:r>
            <a:endParaRPr/>
          </a:p>
        </p:txBody>
      </p:sp>
      <p:sp>
        <p:nvSpPr>
          <p:cNvPr id="320" name="Google Shape;320;p26"/>
          <p:cNvSpPr txBox="1"/>
          <p:nvPr/>
        </p:nvSpPr>
        <p:spPr>
          <a:xfrm>
            <a:off x="809625" y="3388965"/>
            <a:ext cx="278606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 • PREPARE</a:t>
            </a:r>
            <a:endParaRPr/>
          </a:p>
        </p:txBody>
      </p:sp>
      <p:sp>
        <p:nvSpPr>
          <p:cNvPr id="321" name="Google Shape;321;p26"/>
          <p:cNvSpPr txBox="1"/>
          <p:nvPr/>
        </p:nvSpPr>
        <p:spPr>
          <a:xfrm>
            <a:off x="809625" y="3608040"/>
            <a:ext cx="292536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Finalize Targets</a:t>
            </a:r>
            <a:endParaRPr/>
          </a:p>
        </p:txBody>
      </p:sp>
      <p:sp>
        <p:nvSpPr>
          <p:cNvPr id="322" name="Google Shape;322;p26"/>
          <p:cNvSpPr txBox="1"/>
          <p:nvPr/>
        </p:nvSpPr>
        <p:spPr>
          <a:xfrm>
            <a:off x="809625" y="3884265"/>
            <a:ext cx="23241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Establish strict year-based splits and target variables.</a:t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3590925" y="3388965"/>
            <a:ext cx="278606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 • BENCHMARK</a:t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3590925" y="3608040"/>
            <a:ext cx="292536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Fit Baselines</a:t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3590925" y="3884265"/>
            <a:ext cx="23241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Evaluate null and GDP/population models on MAE &amp; RMSE.</a:t>
            </a:r>
            <a:endParaRPr/>
          </a:p>
        </p:txBody>
      </p:sp>
      <p:sp>
        <p:nvSpPr>
          <p:cNvPr id="326" name="Google Shape;326;p26"/>
          <p:cNvSpPr txBox="1"/>
          <p:nvPr/>
        </p:nvSpPr>
        <p:spPr>
          <a:xfrm>
            <a:off x="6372225" y="3388965"/>
            <a:ext cx="278606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 • EXPAND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6372225" y="3608040"/>
            <a:ext cx="292536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Incorporate WDI</a:t>
            </a:r>
            <a:endParaRPr/>
          </a:p>
        </p:txBody>
      </p:sp>
      <p:sp>
        <p:nvSpPr>
          <p:cNvPr id="328" name="Google Shape;328;p26"/>
          <p:cNvSpPr txBox="1"/>
          <p:nvPr/>
        </p:nvSpPr>
        <p:spPr>
          <a:xfrm>
            <a:off x="6372225" y="3884265"/>
            <a:ext cx="23241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Add health and education features; test grouped models.</a:t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9153525" y="3388965"/>
            <a:ext cx="2786062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 • EXPLAIN</a:t>
            </a:r>
            <a:endParaRPr/>
          </a:p>
        </p:txBody>
      </p:sp>
      <p:sp>
        <p:nvSpPr>
          <p:cNvPr id="330" name="Google Shape;330;p26"/>
          <p:cNvSpPr txBox="1"/>
          <p:nvPr/>
        </p:nvSpPr>
        <p:spPr>
          <a:xfrm>
            <a:off x="9153525" y="3608040"/>
            <a:ext cx="292536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Interpret Results</a:t>
            </a:r>
            <a:endParaRPr/>
          </a:p>
        </p:txBody>
      </p:sp>
      <p:sp>
        <p:nvSpPr>
          <p:cNvPr id="331" name="Google Shape;331;p26"/>
          <p:cNvSpPr txBox="1"/>
          <p:nvPr/>
        </p:nvSpPr>
        <p:spPr>
          <a:xfrm>
            <a:off x="9153525" y="3884265"/>
            <a:ext cx="23241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Extract feature importances and error profiles by group.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7"/>
          <p:cNvSpPr/>
          <p:nvPr/>
        </p:nvSpPr>
        <p:spPr>
          <a:xfrm>
            <a:off x="609600" y="3086546"/>
            <a:ext cx="3505200" cy="1471612"/>
          </a:xfrm>
          <a:prstGeom prst="roundRect">
            <a:avLst>
              <a:gd fmla="val 776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7"/>
          <p:cNvSpPr/>
          <p:nvPr/>
        </p:nvSpPr>
        <p:spPr>
          <a:xfrm>
            <a:off x="4343400" y="3086546"/>
            <a:ext cx="3505200" cy="1471612"/>
          </a:xfrm>
          <a:prstGeom prst="roundRect">
            <a:avLst>
              <a:gd fmla="val 776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7"/>
          <p:cNvSpPr/>
          <p:nvPr/>
        </p:nvSpPr>
        <p:spPr>
          <a:xfrm>
            <a:off x="8077200" y="3086546"/>
            <a:ext cx="3505200" cy="1471612"/>
          </a:xfrm>
          <a:prstGeom prst="roundRect">
            <a:avLst>
              <a:gd fmla="val 776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7"/>
          <p:cNvSpPr txBox="1"/>
          <p:nvPr/>
        </p:nvSpPr>
        <p:spPr>
          <a:xfrm>
            <a:off x="609600" y="381000"/>
            <a:ext cx="4845843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2563EB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DISCUSSION READINESS</a:t>
            </a:r>
            <a:endParaRPr/>
          </a:p>
        </p:txBody>
      </p:sp>
      <p:sp>
        <p:nvSpPr>
          <p:cNvPr id="340" name="Google Shape;340;p27"/>
          <p:cNvSpPr txBox="1"/>
          <p:nvPr/>
        </p:nvSpPr>
        <p:spPr>
          <a:xfrm>
            <a:off x="609600" y="619125"/>
            <a:ext cx="508813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Questions &amp; Discussion Focus</a:t>
            </a:r>
            <a:endParaRPr/>
          </a:p>
        </p:txBody>
      </p:sp>
      <p:sp>
        <p:nvSpPr>
          <p:cNvPr id="341" name="Google Shape;341;p27"/>
          <p:cNvSpPr txBox="1"/>
          <p:nvPr/>
        </p:nvSpPr>
        <p:spPr>
          <a:xfrm>
            <a:off x="885825" y="3362771"/>
            <a:ext cx="38754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look beyond GDP?</a:t>
            </a:r>
            <a:endParaRPr/>
          </a:p>
        </p:txBody>
      </p:sp>
      <p:sp>
        <p:nvSpPr>
          <p:cNvPr id="342" name="Google Shape;342;p27"/>
          <p:cNvSpPr txBox="1"/>
          <p:nvPr/>
        </p:nvSpPr>
        <p:spPr>
          <a:xfrm>
            <a:off x="885825" y="3638996"/>
            <a:ext cx="30480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Wealth captures capacity but omits public investments in human capital and health systems.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4619625" y="3362771"/>
            <a:ext cx="387548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Preventing Leakage?</a:t>
            </a:r>
            <a:endParaRPr/>
          </a:p>
        </p:txBody>
      </p:sp>
      <p:sp>
        <p:nvSpPr>
          <p:cNvPr id="344" name="Google Shape;344;p27"/>
          <p:cNvSpPr txBox="1"/>
          <p:nvPr/>
        </p:nvSpPr>
        <p:spPr>
          <a:xfrm>
            <a:off x="4619625" y="3638996"/>
            <a:ext cx="30480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Enforcing strict historical temporal splits; preprocessing steps fit strictly on training folds.</a:t>
            </a:r>
            <a:endParaRPr/>
          </a:p>
        </p:txBody>
      </p:sp>
      <p:sp>
        <p:nvSpPr>
          <p:cNvPr id="345" name="Google Shape;345;p27"/>
          <p:cNvSpPr txBox="1"/>
          <p:nvPr/>
        </p:nvSpPr>
        <p:spPr>
          <a:xfrm>
            <a:off x="8353425" y="3362771"/>
            <a:ext cx="38385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Ensuring Fairness?</a:t>
            </a:r>
            <a:endParaRPr/>
          </a:p>
        </p:txBody>
      </p:sp>
      <p:sp>
        <p:nvSpPr>
          <p:cNvPr id="346" name="Google Shape;346;p27"/>
          <p:cNvSpPr txBox="1"/>
          <p:nvPr/>
        </p:nvSpPr>
        <p:spPr>
          <a:xfrm>
            <a:off x="8353425" y="3638996"/>
            <a:ext cx="304800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Evaluating performance across population tiers and reporting standardized held-out metrics.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343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8"/>
          <p:cNvSpPr txBox="1"/>
          <p:nvPr/>
        </p:nvSpPr>
        <p:spPr>
          <a:xfrm>
            <a:off x="571500" y="571500"/>
            <a:ext cx="252531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353" name="Google Shape;353;p28"/>
          <p:cNvSpPr txBox="1"/>
          <p:nvPr/>
        </p:nvSpPr>
        <p:spPr>
          <a:xfrm>
            <a:off x="1666875" y="1072455"/>
            <a:ext cx="679846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https://cdn.vectorstock.com/i/500p/14/49/medal-podium-awards-vector-35021449.jpg</a:t>
            </a:r>
            <a:endParaRPr/>
          </a:p>
        </p:txBody>
      </p:sp>
      <p:sp>
        <p:nvSpPr>
          <p:cNvPr id="354" name="Google Shape;354;p28"/>
          <p:cNvSpPr txBox="1"/>
          <p:nvPr/>
        </p:nvSpPr>
        <p:spPr>
          <a:xfrm>
            <a:off x="1666875" y="1272480"/>
            <a:ext cx="28217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www.vectorstock.com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